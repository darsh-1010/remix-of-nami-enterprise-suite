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Oswald Medium"/>
      <p:regular r:id="rId20"/>
      <p:bold r:id="rId21"/>
    </p:embeddedFont>
    <p:embeddedFont>
      <p:font typeface="Inter Light"/>
      <p:regular r:id="rId22"/>
      <p:bold r:id="rId23"/>
      <p:italic r:id="rId24"/>
      <p:boldItalic r:id="rId25"/>
    </p:embeddedFont>
    <p:embeddedFont>
      <p:font typeface="Inter SemiBold"/>
      <p:regular r:id="rId26"/>
      <p:bold r:id="rId27"/>
      <p:italic r:id="rId28"/>
      <p:boldItalic r:id="rId29"/>
    </p:embeddedFont>
    <p:embeddedFont>
      <p:font typeface="Inter"/>
      <p:regular r:id="rId30"/>
      <p:bold r:id="rId31"/>
      <p:italic r:id="rId32"/>
      <p:boldItalic r:id="rId33"/>
    </p:embeddedFont>
    <p:embeddedFont>
      <p:font typeface="Oswald SemiBold"/>
      <p:regular r:id="rId34"/>
      <p:bold r:id="rId35"/>
    </p:embeddedFont>
    <p:embeddedFont>
      <p:font typeface="Oswald"/>
      <p:bold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Medium-regular.fntdata"/><Relationship Id="rId22" Type="http://schemas.openxmlformats.org/officeDocument/2006/relationships/font" Target="fonts/InterLight-regular.fntdata"/><Relationship Id="rId21" Type="http://schemas.openxmlformats.org/officeDocument/2006/relationships/font" Target="fonts/OswaldMedium-bold.fntdata"/><Relationship Id="rId24" Type="http://schemas.openxmlformats.org/officeDocument/2006/relationships/font" Target="fonts/InterLight-italic.fntdata"/><Relationship Id="rId23" Type="http://schemas.openxmlformats.org/officeDocument/2006/relationships/font" Target="fonts/InterLigh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SemiBold-regular.fntdata"/><Relationship Id="rId25" Type="http://schemas.openxmlformats.org/officeDocument/2006/relationships/font" Target="fonts/InterLight-boldItalic.fntdata"/><Relationship Id="rId28" Type="http://schemas.openxmlformats.org/officeDocument/2006/relationships/font" Target="fonts/InterSemiBold-italic.fntdata"/><Relationship Id="rId27" Type="http://schemas.openxmlformats.org/officeDocument/2006/relationships/font" Target="fonts/Inter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bold.fntdata"/><Relationship Id="rId30" Type="http://schemas.openxmlformats.org/officeDocument/2006/relationships/font" Target="fonts/Inter-regular.fntdata"/><Relationship Id="rId11" Type="http://schemas.openxmlformats.org/officeDocument/2006/relationships/slide" Target="slides/slide6.xml"/><Relationship Id="rId33" Type="http://schemas.openxmlformats.org/officeDocument/2006/relationships/font" Target="fonts/Inter-boldItalic.fntdata"/><Relationship Id="rId10" Type="http://schemas.openxmlformats.org/officeDocument/2006/relationships/slide" Target="slides/slide5.xml"/><Relationship Id="rId32" Type="http://schemas.openxmlformats.org/officeDocument/2006/relationships/font" Target="fonts/Inter-italic.fntdata"/><Relationship Id="rId13" Type="http://schemas.openxmlformats.org/officeDocument/2006/relationships/slide" Target="slides/slide8.xml"/><Relationship Id="rId35" Type="http://schemas.openxmlformats.org/officeDocument/2006/relationships/font" Target="fonts/OswaldSemiBold-bold.fntdata"/><Relationship Id="rId12" Type="http://schemas.openxmlformats.org/officeDocument/2006/relationships/slide" Target="slides/slide7.xml"/><Relationship Id="rId34" Type="http://schemas.openxmlformats.org/officeDocument/2006/relationships/font" Target="fonts/OswaldSemiBold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Oswald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42.jpg"/><Relationship Id="rId5" Type="http://schemas.openxmlformats.org/officeDocument/2006/relationships/image" Target="../media/image48.png"/><Relationship Id="rId6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9" Type="http://schemas.openxmlformats.org/officeDocument/2006/relationships/image" Target="../media/image13.png"/><Relationship Id="rId5" Type="http://schemas.openxmlformats.org/officeDocument/2006/relationships/image" Target="../media/image25.png"/><Relationship Id="rId6" Type="http://schemas.openxmlformats.org/officeDocument/2006/relationships/image" Target="../media/image9.png"/><Relationship Id="rId7" Type="http://schemas.openxmlformats.org/officeDocument/2006/relationships/image" Target="../media/image7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5.jp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12.png"/><Relationship Id="rId6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4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6.png"/><Relationship Id="rId10" Type="http://schemas.openxmlformats.org/officeDocument/2006/relationships/image" Target="../media/image17.png"/><Relationship Id="rId9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image" Target="../media/image14.png"/><Relationship Id="rId7" Type="http://schemas.openxmlformats.org/officeDocument/2006/relationships/image" Target="../media/image20.png"/><Relationship Id="rId8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9" Type="http://schemas.openxmlformats.org/officeDocument/2006/relationships/image" Target="../media/image28.png"/><Relationship Id="rId5" Type="http://schemas.openxmlformats.org/officeDocument/2006/relationships/image" Target="../media/image18.png"/><Relationship Id="rId6" Type="http://schemas.openxmlformats.org/officeDocument/2006/relationships/image" Target="../media/image9.png"/><Relationship Id="rId7" Type="http://schemas.openxmlformats.org/officeDocument/2006/relationships/image" Target="../media/image23.png"/><Relationship Id="rId8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56.png"/><Relationship Id="rId5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9.png"/><Relationship Id="rId11" Type="http://schemas.openxmlformats.org/officeDocument/2006/relationships/image" Target="../media/image43.png"/><Relationship Id="rId10" Type="http://schemas.openxmlformats.org/officeDocument/2006/relationships/image" Target="../media/image36.png"/><Relationship Id="rId9" Type="http://schemas.openxmlformats.org/officeDocument/2006/relationships/image" Target="../media/image33.png"/><Relationship Id="rId5" Type="http://schemas.openxmlformats.org/officeDocument/2006/relationships/image" Target="../media/image32.png"/><Relationship Id="rId6" Type="http://schemas.openxmlformats.org/officeDocument/2006/relationships/image" Target="../media/image30.png"/><Relationship Id="rId7" Type="http://schemas.openxmlformats.org/officeDocument/2006/relationships/image" Target="../media/image39.png"/><Relationship Id="rId8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34.png"/><Relationship Id="rId10" Type="http://schemas.openxmlformats.org/officeDocument/2006/relationships/image" Target="../media/image53.png"/><Relationship Id="rId9" Type="http://schemas.openxmlformats.org/officeDocument/2006/relationships/image" Target="../media/image35.png"/><Relationship Id="rId5" Type="http://schemas.openxmlformats.org/officeDocument/2006/relationships/image" Target="../media/image52.png"/><Relationship Id="rId6" Type="http://schemas.openxmlformats.org/officeDocument/2006/relationships/image" Target="../media/image58.png"/><Relationship Id="rId7" Type="http://schemas.openxmlformats.org/officeDocument/2006/relationships/image" Target="../media/image54.png"/><Relationship Id="rId8" Type="http://schemas.openxmlformats.org/officeDocument/2006/relationships/image" Target="../media/image4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57.png"/><Relationship Id="rId10" Type="http://schemas.openxmlformats.org/officeDocument/2006/relationships/image" Target="../media/image40.png"/><Relationship Id="rId9" Type="http://schemas.openxmlformats.org/officeDocument/2006/relationships/image" Target="../media/image55.png"/><Relationship Id="rId5" Type="http://schemas.openxmlformats.org/officeDocument/2006/relationships/image" Target="../media/image49.png"/><Relationship Id="rId6" Type="http://schemas.openxmlformats.org/officeDocument/2006/relationships/image" Target="../media/image37.png"/><Relationship Id="rId7" Type="http://schemas.openxmlformats.org/officeDocument/2006/relationships/image" Target="../media/image46.png"/><Relationship Id="rId8" Type="http://schemas.openxmlformats.org/officeDocument/2006/relationships/image" Target="../media/image5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4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223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" name="Google Shape;85;p13"/>
          <p:cNvGrpSpPr/>
          <p:nvPr/>
        </p:nvGrpSpPr>
        <p:grpSpPr>
          <a:xfrm>
            <a:off x="7134225" y="466725"/>
            <a:ext cx="4429125" cy="5953125"/>
            <a:chOff x="7134225" y="466725"/>
            <a:chExt cx="4429125" cy="5953125"/>
          </a:xfrm>
        </p:grpSpPr>
        <p:sp>
          <p:nvSpPr>
            <p:cNvPr id="86" name="Google Shape;86;p13"/>
            <p:cNvSpPr/>
            <p:nvPr/>
          </p:nvSpPr>
          <p:spPr>
            <a:xfrm>
              <a:off x="7181850" y="514350"/>
              <a:ext cx="4381500" cy="5905500"/>
            </a:xfrm>
            <a:prstGeom prst="roundRect">
              <a:avLst>
                <a:gd fmla="val 3478" name="adj"/>
              </a:avLst>
            </a:prstGeom>
            <a:solidFill>
              <a:srgbClr val="C5A880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striking, low-angle photograph of towering financial district skyscrapers with a sleek glass facade reflecting a moody twilight sky, golden lights glowing from within the offices, corporate luxury, professional architectural photography, navy and warm gold color palette." id="87" name="Google Shape;87;p13"/>
            <p:cNvPicPr preferRelativeResize="0"/>
            <p:nvPr/>
          </p:nvPicPr>
          <p:blipFill rotWithShape="1">
            <a:blip r:embed="rId4">
              <a:alphaModFix/>
            </a:blip>
            <a:srcRect b="0" l="534" r="544" t="0"/>
            <a:stretch/>
          </p:blipFill>
          <p:spPr>
            <a:xfrm>
              <a:off x="7143750" y="476250"/>
              <a:ext cx="4381500" cy="5905500"/>
            </a:xfrm>
            <a:prstGeom prst="roundRect">
              <a:avLst>
                <a:gd fmla="val 3478" name="adj"/>
              </a:avLst>
            </a:prstGeom>
            <a:noFill/>
            <a:ln>
              <a:noFill/>
            </a:ln>
          </p:spPr>
        </p:pic>
        <p:pic>
          <p:nvPicPr>
            <p:cNvPr id="88" name="Google Shape;88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134225" y="466725"/>
              <a:ext cx="2009700" cy="46767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image.png" id="89" name="Google Shape;8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" y="5943600"/>
            <a:ext cx="5634037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666750" y="762000"/>
            <a:ext cx="56340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C5A88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NAMI GROUP</a:t>
            </a:r>
            <a:endParaRPr b="0" sz="1400">
              <a:solidFill>
                <a:srgbClr val="C5A88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66750" y="1333500"/>
            <a:ext cx="5915700" cy="1723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INVESTMENT</a:t>
            </a:r>
            <a:br>
              <a:rPr b="1" lang="en-US" sz="5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b="1" lang="en-US" sz="5600">
                <a:solidFill>
                  <a:srgbClr val="C5A880"/>
                </a:solidFill>
                <a:latin typeface="Oswald"/>
                <a:ea typeface="Oswald"/>
                <a:cs typeface="Oswald"/>
                <a:sym typeface="Oswald"/>
              </a:rPr>
              <a:t>BANKING</a:t>
            </a:r>
            <a:endParaRPr b="1" sz="56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666750" y="3333750"/>
            <a:ext cx="5524500" cy="73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125"/>
              </a:spcAft>
              <a:buNone/>
            </a:pPr>
            <a:r>
              <a:rPr b="0" lang="en-US" sz="160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High-impact financial blueprints and transaction advisory models designed to secure major capital placements and execute mergers.</a:t>
            </a:r>
            <a:endParaRPr b="0" sz="1600">
              <a:solidFill>
                <a:srgbClr val="CBD5E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666750" y="1143000"/>
            <a:ext cx="762000" cy="1920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66750" y="6181725"/>
            <a:ext cx="1562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88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WWW.NAMIGROUP.IN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4405312" y="6182617"/>
            <a:ext cx="1895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4F6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Structuring • Capital • Exits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349550"/>
            <a:ext cx="2049650" cy="313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68800" y="2349550"/>
            <a:ext cx="2049825" cy="31344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71025" y="2349550"/>
            <a:ext cx="2049808" cy="31344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73233" y="2349550"/>
            <a:ext cx="2049808" cy="31344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75442" y="2349550"/>
            <a:ext cx="2049659" cy="31344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829925" y="966341"/>
            <a:ext cx="695325" cy="26521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66750" y="1593502"/>
            <a:ext cx="952500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Our financial architecture integrates continuous market intelligence with elite structural design. We combine strategic counsel with institutional-grade execution models.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04875" y="2616249"/>
            <a:ext cx="157341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88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PILLAR 01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04875" y="2930574"/>
            <a:ext cx="165208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1223F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CAPITAL MARKET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904875" y="3302049"/>
            <a:ext cx="1573410" cy="1243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Public &amp; private equity placements and structured debt syndication models across active sovereign corridors.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3106935" y="2616249"/>
            <a:ext cx="157355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88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PILLAR 02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3106935" y="2930574"/>
            <a:ext cx="165223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1223F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MERGERS &amp; ACQUISITIONS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3106935" y="3597324"/>
            <a:ext cx="1573559" cy="1243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Strategic sell-side optimization, buy-side target maps, and comprehensive cross-border joint venture mandates.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5309145" y="2616249"/>
            <a:ext cx="157355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88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PILLAR 03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5309145" y="2930574"/>
            <a:ext cx="165223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1223F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STRUCTURED FINANCE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5309145" y="3597324"/>
            <a:ext cx="1573559" cy="1243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Leveraged buyout debt stacks, mezzanine options, waterfall configurations, and customized funding structures.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7511355" y="2616249"/>
            <a:ext cx="157355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88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PILLAR 04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7511355" y="2930574"/>
            <a:ext cx="165223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1223F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SUPPORT SERVICES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7511355" y="3597324"/>
            <a:ext cx="1573559" cy="1243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Institutional-grade financial valuation modeling, validation reports, investor memorandum packs, and diligence rooms.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9713565" y="2616249"/>
            <a:ext cx="157341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88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PILLAR 05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9713565" y="2930574"/>
            <a:ext cx="165208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1223F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SUSTAINABILITY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9713565" y="3302049"/>
            <a:ext cx="1573410" cy="1243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Green capital placement strategies, transition frameworks, and derivatives-based market hedging algorithms.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666750" y="476250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88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01 / OVERVIEW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666750" y="771525"/>
            <a:ext cx="11401425" cy="4790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1223F"/>
                </a:solidFill>
                <a:latin typeface="Oswald"/>
                <a:ea typeface="Oswald"/>
                <a:cs typeface="Oswald"/>
                <a:sym typeface="Oswald"/>
              </a:rPr>
              <a:t>CORE ADVISORY </a:t>
            </a:r>
            <a:r>
              <a:rPr b="0" i="0" lang="en-US" sz="3150" u="none" cap="none" strike="noStrike">
                <a:solidFill>
                  <a:srgbClr val="C5A880"/>
                </a:solidFill>
                <a:latin typeface="Oswald Medium"/>
                <a:ea typeface="Oswald Medium"/>
                <a:cs typeface="Oswald Medium"/>
                <a:sym typeface="Oswald Medium"/>
              </a:rPr>
              <a:t>OFFERINGS</a:t>
            </a:r>
            <a:endParaRPr/>
          </a:p>
        </p:txBody>
      </p:sp>
      <p:sp>
        <p:nvSpPr>
          <p:cNvPr id="125" name="Google Shape;125;p14"/>
          <p:cNvSpPr/>
          <p:nvPr/>
        </p:nvSpPr>
        <p:spPr>
          <a:xfrm>
            <a:off x="666750" y="1288702"/>
            <a:ext cx="10858500" cy="19050"/>
          </a:xfrm>
          <a:prstGeom prst="rect">
            <a:avLst/>
          </a:prstGeom>
          <a:solidFill>
            <a:srgbClr val="1122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666750" y="676275"/>
            <a:ext cx="952500" cy="9525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2" name="Google Shape;132;p15"/>
          <p:cNvGrpSpPr/>
          <p:nvPr/>
        </p:nvGrpSpPr>
        <p:grpSpPr>
          <a:xfrm>
            <a:off x="666750" y="2190750"/>
            <a:ext cx="5143500" cy="2476500"/>
            <a:chOff x="666750" y="2190750"/>
            <a:chExt cx="5143500" cy="2476500"/>
          </a:xfrm>
        </p:grpSpPr>
        <p:sp>
          <p:nvSpPr>
            <p:cNvPr id="133" name="Google Shape;133;p15"/>
            <p:cNvSpPr/>
            <p:nvPr/>
          </p:nvSpPr>
          <p:spPr>
            <a:xfrm>
              <a:off x="666750" y="2190750"/>
              <a:ext cx="5143500" cy="24765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666750" y="2190750"/>
              <a:ext cx="5143500" cy="57300"/>
            </a:xfrm>
            <a:prstGeom prst="roundRect">
              <a:avLst>
                <a:gd fmla="val 50000" name="adj"/>
              </a:avLst>
            </a:prstGeom>
            <a:solidFill>
              <a:srgbClr val="1122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5"/>
            <p:cNvSpPr txBox="1"/>
            <p:nvPr/>
          </p:nvSpPr>
          <p:spPr>
            <a:xfrm>
              <a:off x="904875" y="2428875"/>
              <a:ext cx="46674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C5A88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business_center </a:t>
              </a:r>
              <a:r>
                <a:rPr b="0" lang="en-US" sz="1600">
                  <a:solidFill>
                    <a:srgbClr val="11223F"/>
                  </a:solidFill>
                  <a:latin typeface="Oswald SemiBold"/>
                  <a:ea typeface="Oswald SemiBold"/>
                  <a:cs typeface="Oswald SemiBold"/>
                  <a:sym typeface="Oswald SemiBold"/>
                </a:rPr>
                <a:t>STRUCTURED SOLUTIONS</a:t>
              </a:r>
              <a:endParaRPr b="0" sz="1600">
                <a:solidFill>
                  <a:srgbClr val="11223F"/>
                </a:solidFill>
                <a:latin typeface="Oswald SemiBold"/>
                <a:ea typeface="Oswald SemiBold"/>
                <a:cs typeface="Oswald SemiBold"/>
                <a:sym typeface="Oswald SemiBold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C5A880"/>
                  </a:solidFill>
                  <a:latin typeface="Inter"/>
                  <a:ea typeface="Inter"/>
                  <a:cs typeface="Inter"/>
                  <a:sym typeface="Inter"/>
                </a:rPr>
                <a:t>▪</a:t>
              </a:r>
              <a:r>
                <a:rPr b="1" lang="en-US" sz="1150">
                  <a:solidFill>
                    <a:srgbClr val="11223F"/>
                  </a:solidFill>
                  <a:latin typeface="Inter"/>
                  <a:ea typeface="Inter"/>
                  <a:cs typeface="Inter"/>
                  <a:sym typeface="Inter"/>
                </a:rPr>
                <a:t>IPO &amp; SME Listings:</a:t>
              </a:r>
              <a:r>
                <a:rPr b="0" lang="en-US" sz="11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Full-scope placement preparation and prospectus filing.</a:t>
              </a:r>
              <a:endParaRPr b="0" sz="11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C5A880"/>
                  </a:solidFill>
                  <a:latin typeface="Inter"/>
                  <a:ea typeface="Inter"/>
                  <a:cs typeface="Inter"/>
                  <a:sym typeface="Inter"/>
                </a:rPr>
                <a:t>▪</a:t>
              </a:r>
              <a:r>
                <a:rPr b="1" lang="en-US" sz="1150">
                  <a:solidFill>
                    <a:srgbClr val="11223F"/>
                  </a:solidFill>
                  <a:latin typeface="Inter"/>
                  <a:ea typeface="Inter"/>
                  <a:cs typeface="Inter"/>
                  <a:sym typeface="Inter"/>
                </a:rPr>
                <a:t>Debt Capital:</a:t>
              </a:r>
              <a:r>
                <a:rPr b="0" lang="en-US" sz="11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Access to a network of 135+ global credit lenders and institutional funds.</a:t>
              </a:r>
              <a:endParaRPr b="0" sz="11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6" name="Google Shape;136;p15"/>
          <p:cNvGrpSpPr/>
          <p:nvPr/>
        </p:nvGrpSpPr>
        <p:grpSpPr>
          <a:xfrm>
            <a:off x="666750" y="4905375"/>
            <a:ext cx="2428800" cy="1381200"/>
            <a:chOff x="666750" y="4905375"/>
            <a:chExt cx="2428800" cy="1381200"/>
          </a:xfrm>
        </p:grpSpPr>
        <p:sp>
          <p:nvSpPr>
            <p:cNvPr id="137" name="Google Shape;137;p15"/>
            <p:cNvSpPr/>
            <p:nvPr/>
          </p:nvSpPr>
          <p:spPr>
            <a:xfrm>
              <a:off x="666750" y="4905375"/>
              <a:ext cx="2428800" cy="1381200"/>
            </a:xfrm>
            <a:prstGeom prst="roundRect">
              <a:avLst>
                <a:gd fmla="val 551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5"/>
            <p:cNvSpPr/>
            <p:nvPr/>
          </p:nvSpPr>
          <p:spPr>
            <a:xfrm>
              <a:off x="666750" y="4905375"/>
              <a:ext cx="57300" cy="1381200"/>
            </a:xfrm>
            <a:prstGeom prst="roundRect">
              <a:avLst>
                <a:gd fmla="val 50000" name="adj"/>
              </a:avLst>
            </a:prstGeom>
            <a:solidFill>
              <a:srgbClr val="C5A8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5"/>
            <p:cNvSpPr txBox="1"/>
            <p:nvPr/>
          </p:nvSpPr>
          <p:spPr>
            <a:xfrm>
              <a:off x="904875" y="5095875"/>
              <a:ext cx="20001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11223F"/>
                  </a:solidFill>
                  <a:latin typeface="Oswald"/>
                  <a:ea typeface="Oswald"/>
                  <a:cs typeface="Oswald"/>
                  <a:sym typeface="Oswald"/>
                </a:rPr>
                <a:t>USD 120M+</a:t>
              </a:r>
              <a:endParaRPr b="1" sz="2800">
                <a:solidFill>
                  <a:srgbClr val="11223F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C5A880"/>
                  </a:solidFill>
                  <a:latin typeface="Inter"/>
                  <a:ea typeface="Inter"/>
                  <a:cs typeface="Inter"/>
                  <a:sym typeface="Inter"/>
                </a:rPr>
                <a:t>EQUITY PLACED</a:t>
              </a:r>
              <a:endParaRPr b="1" sz="950">
                <a:solidFill>
                  <a:srgbClr val="C5A8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0" name="Google Shape;140;p15"/>
          <p:cNvGrpSpPr/>
          <p:nvPr/>
        </p:nvGrpSpPr>
        <p:grpSpPr>
          <a:xfrm>
            <a:off x="3381375" y="4905375"/>
            <a:ext cx="2428800" cy="1381200"/>
            <a:chOff x="3381375" y="4905375"/>
            <a:chExt cx="2428800" cy="1381200"/>
          </a:xfrm>
        </p:grpSpPr>
        <p:sp>
          <p:nvSpPr>
            <p:cNvPr id="141" name="Google Shape;141;p15"/>
            <p:cNvSpPr/>
            <p:nvPr/>
          </p:nvSpPr>
          <p:spPr>
            <a:xfrm>
              <a:off x="3381375" y="4905375"/>
              <a:ext cx="2428800" cy="1381200"/>
            </a:xfrm>
            <a:prstGeom prst="roundRect">
              <a:avLst>
                <a:gd fmla="val 551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5"/>
            <p:cNvSpPr/>
            <p:nvPr/>
          </p:nvSpPr>
          <p:spPr>
            <a:xfrm>
              <a:off x="3381375" y="4905375"/>
              <a:ext cx="57300" cy="1381200"/>
            </a:xfrm>
            <a:prstGeom prst="roundRect">
              <a:avLst>
                <a:gd fmla="val 50000" name="adj"/>
              </a:avLst>
            </a:prstGeom>
            <a:solidFill>
              <a:srgbClr val="C5A8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5"/>
            <p:cNvSpPr txBox="1"/>
            <p:nvPr/>
          </p:nvSpPr>
          <p:spPr>
            <a:xfrm>
              <a:off x="3619500" y="5095875"/>
              <a:ext cx="20001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11223F"/>
                  </a:solidFill>
                  <a:latin typeface="Oswald"/>
                  <a:ea typeface="Oswald"/>
                  <a:cs typeface="Oswald"/>
                  <a:sym typeface="Oswald"/>
                </a:rPr>
                <a:t>USD 157M+</a:t>
              </a:r>
              <a:endParaRPr b="1" sz="2800">
                <a:solidFill>
                  <a:srgbClr val="11223F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C5A880"/>
                  </a:solidFill>
                  <a:latin typeface="Inter"/>
                  <a:ea typeface="Inter"/>
                  <a:cs typeface="Inter"/>
                  <a:sym typeface="Inter"/>
                </a:rPr>
                <a:t>DEBT MOBILIZED</a:t>
              </a:r>
              <a:endParaRPr b="1" sz="950">
                <a:solidFill>
                  <a:srgbClr val="C5A8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descr="image.png" id="144" name="Google Shape;14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29925" y="966341"/>
            <a:ext cx="695325" cy="2652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ean, sophisticated high-angle architectural photograph of corporate financial district skyscrapers with glass facades reflecting golden hour twilight sky, deep navy blue and warm gold ambient lighting, ultra-professional corporate aesthetic." id="145" name="Google Shape;145;p15"/>
          <p:cNvPicPr preferRelativeResize="0"/>
          <p:nvPr/>
        </p:nvPicPr>
        <p:blipFill rotWithShape="1">
          <a:blip r:embed="rId5">
            <a:alphaModFix/>
          </a:blip>
          <a:srcRect b="0" l="2034" r="2034" t="0"/>
          <a:stretch/>
        </p:blipFill>
        <p:spPr>
          <a:xfrm>
            <a:off x="6286500" y="2190750"/>
            <a:ext cx="5238900" cy="4095900"/>
          </a:xfrm>
          <a:prstGeom prst="roundRect">
            <a:avLst>
              <a:gd fmla="val 2790" name="adj"/>
            </a:avLst>
          </a:prstGeom>
          <a:noFill/>
          <a:ln>
            <a:noFill/>
          </a:ln>
        </p:spPr>
      </p:pic>
      <p:sp>
        <p:nvSpPr>
          <p:cNvPr id="146" name="Google Shape;146;p15"/>
          <p:cNvSpPr txBox="1"/>
          <p:nvPr/>
        </p:nvSpPr>
        <p:spPr>
          <a:xfrm>
            <a:off x="666750" y="1524000"/>
            <a:ext cx="108585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Comprehensive advisory across public mainboards and private credit markets, delivering robust placement rates.</a:t>
            </a:r>
            <a:endParaRPr b="0" sz="13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666750" y="476250"/>
            <a:ext cx="10858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88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02 / CAPITAL MARKETS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666750" y="771525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1223F"/>
                </a:solidFill>
                <a:latin typeface="Oswald"/>
                <a:ea typeface="Oswald"/>
                <a:cs typeface="Oswald"/>
                <a:sym typeface="Oswald"/>
              </a:rPr>
              <a:t>CAPITAL MARKET </a:t>
            </a:r>
            <a:r>
              <a:rPr b="0" i="0" lang="en-US" sz="3150" u="none" cap="none" strike="noStrike">
                <a:solidFill>
                  <a:srgbClr val="C5A880"/>
                </a:solidFill>
                <a:latin typeface="Oswald Medium"/>
                <a:ea typeface="Oswald Medium"/>
                <a:cs typeface="Oswald Medium"/>
                <a:sym typeface="Oswald Medium"/>
              </a:rPr>
              <a:t>ADVISORY</a:t>
            </a:r>
            <a:endParaRPr/>
          </a:p>
        </p:txBody>
      </p:sp>
      <p:sp>
        <p:nvSpPr>
          <p:cNvPr id="149" name="Google Shape;149;p15"/>
          <p:cNvSpPr/>
          <p:nvPr/>
        </p:nvSpPr>
        <p:spPr>
          <a:xfrm>
            <a:off x="666750" y="1288702"/>
            <a:ext cx="10858500" cy="19200"/>
          </a:xfrm>
          <a:prstGeom prst="rect">
            <a:avLst/>
          </a:prstGeom>
          <a:solidFill>
            <a:srgbClr val="1122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666750" y="676275"/>
            <a:ext cx="952500" cy="960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high-angle professional architectural photograph of modern glass office towers reflecting a golden and blue twilight sky, symbolizing strategic corporate growth and mergers." id="156" name="Google Shape;156;p16"/>
          <p:cNvPicPr preferRelativeResize="0"/>
          <p:nvPr/>
        </p:nvPicPr>
        <p:blipFill rotWithShape="1">
          <a:blip r:embed="rId4">
            <a:alphaModFix/>
          </a:blip>
          <a:srcRect b="0" l="2034" r="2034" t="0"/>
          <a:stretch/>
        </p:blipFill>
        <p:spPr>
          <a:xfrm>
            <a:off x="666750" y="2190750"/>
            <a:ext cx="5238900" cy="4095900"/>
          </a:xfrm>
          <a:prstGeom prst="roundRect">
            <a:avLst>
              <a:gd fmla="val 2790" name="adj"/>
            </a:avLst>
          </a:prstGeom>
          <a:noFill/>
          <a:ln>
            <a:noFill/>
          </a:ln>
        </p:spPr>
      </p:pic>
      <p:grpSp>
        <p:nvGrpSpPr>
          <p:cNvPr id="157" name="Google Shape;157;p16"/>
          <p:cNvGrpSpPr/>
          <p:nvPr/>
        </p:nvGrpSpPr>
        <p:grpSpPr>
          <a:xfrm>
            <a:off x="6286500" y="2190750"/>
            <a:ext cx="5238900" cy="2476500"/>
            <a:chOff x="6286500" y="2190750"/>
            <a:chExt cx="5238900" cy="2476500"/>
          </a:xfrm>
        </p:grpSpPr>
        <p:sp>
          <p:nvSpPr>
            <p:cNvPr id="158" name="Google Shape;158;p16"/>
            <p:cNvSpPr/>
            <p:nvPr/>
          </p:nvSpPr>
          <p:spPr>
            <a:xfrm>
              <a:off x="6286500" y="2190750"/>
              <a:ext cx="5238900" cy="24765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6"/>
            <p:cNvSpPr/>
            <p:nvPr/>
          </p:nvSpPr>
          <p:spPr>
            <a:xfrm>
              <a:off x="6286500" y="2190750"/>
              <a:ext cx="5238900" cy="57300"/>
            </a:xfrm>
            <a:prstGeom prst="roundRect">
              <a:avLst>
                <a:gd fmla="val 50000" name="adj"/>
              </a:avLst>
            </a:prstGeom>
            <a:solidFill>
              <a:srgbClr val="1122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6"/>
            <p:cNvSpPr txBox="1"/>
            <p:nvPr/>
          </p:nvSpPr>
          <p:spPr>
            <a:xfrm>
              <a:off x="6524625" y="2428875"/>
              <a:ext cx="4762500" cy="20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C5A88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insights </a:t>
              </a:r>
              <a:r>
                <a:rPr b="0" lang="en-US" sz="1600">
                  <a:solidFill>
                    <a:srgbClr val="11223F"/>
                  </a:solidFill>
                  <a:latin typeface="Oswald SemiBold"/>
                  <a:ea typeface="Oswald SemiBold"/>
                  <a:cs typeface="Oswald SemiBold"/>
                  <a:sym typeface="Oswald SemiBold"/>
                </a:rPr>
                <a:t>EXECUTION STRATEGY</a:t>
              </a:r>
              <a:endParaRPr b="0" sz="2000">
                <a:solidFill>
                  <a:srgbClr val="C5A88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C5A880"/>
                  </a:solidFill>
                  <a:latin typeface="Inter"/>
                  <a:ea typeface="Inter"/>
                  <a:cs typeface="Inter"/>
                  <a:sym typeface="Inter"/>
                </a:rPr>
                <a:t>▪</a:t>
              </a:r>
              <a:r>
                <a:rPr b="1" lang="en-US" sz="1150">
                  <a:solidFill>
                    <a:srgbClr val="11223F"/>
                  </a:solidFill>
                  <a:latin typeface="Inter"/>
                  <a:ea typeface="Inter"/>
                  <a:cs typeface="Inter"/>
                  <a:sym typeface="Inter"/>
                </a:rPr>
                <a:t>Buy-Side Strategy:</a:t>
              </a:r>
              <a:r>
                <a:rPr b="0" lang="en-US" sz="11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Precise market screen maps and diligence pipelines.</a:t>
              </a:r>
              <a:endParaRPr b="0" sz="1150">
                <a:solidFill>
                  <a:srgbClr val="C5A88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C5A880"/>
                  </a:solidFill>
                  <a:latin typeface="Inter"/>
                  <a:ea typeface="Inter"/>
                  <a:cs typeface="Inter"/>
                  <a:sym typeface="Inter"/>
                </a:rPr>
                <a:t>▪</a:t>
              </a:r>
              <a:r>
                <a:rPr b="1" lang="en-US" sz="1150">
                  <a:solidFill>
                    <a:srgbClr val="11223F"/>
                  </a:solidFill>
                  <a:latin typeface="Inter"/>
                  <a:ea typeface="Inter"/>
                  <a:cs typeface="Inter"/>
                  <a:sym typeface="Inter"/>
                </a:rPr>
                <a:t>Sell-Side Optimization:</a:t>
              </a:r>
              <a:r>
                <a:rPr b="0" lang="en-US" sz="11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Premium confidential memorandums and structural positioning.</a:t>
              </a:r>
              <a:endParaRPr b="0" sz="1150">
                <a:solidFill>
                  <a:srgbClr val="C5A88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161" name="Google Shape;161;p16"/>
          <p:cNvGrpSpPr/>
          <p:nvPr/>
        </p:nvGrpSpPr>
        <p:grpSpPr>
          <a:xfrm>
            <a:off x="6286500" y="4905375"/>
            <a:ext cx="2476500" cy="1381200"/>
            <a:chOff x="6286500" y="4905375"/>
            <a:chExt cx="2476500" cy="1381200"/>
          </a:xfrm>
        </p:grpSpPr>
        <p:sp>
          <p:nvSpPr>
            <p:cNvPr id="162" name="Google Shape;162;p16"/>
            <p:cNvSpPr/>
            <p:nvPr/>
          </p:nvSpPr>
          <p:spPr>
            <a:xfrm>
              <a:off x="6286500" y="4905375"/>
              <a:ext cx="2476500" cy="1381200"/>
            </a:xfrm>
            <a:prstGeom prst="roundRect">
              <a:avLst>
                <a:gd fmla="val 551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6"/>
            <p:cNvSpPr/>
            <p:nvPr/>
          </p:nvSpPr>
          <p:spPr>
            <a:xfrm>
              <a:off x="6286500" y="4905375"/>
              <a:ext cx="57300" cy="1381200"/>
            </a:xfrm>
            <a:prstGeom prst="roundRect">
              <a:avLst>
                <a:gd fmla="val 50000" name="adj"/>
              </a:avLst>
            </a:prstGeom>
            <a:solidFill>
              <a:srgbClr val="C5A8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6"/>
            <p:cNvSpPr txBox="1"/>
            <p:nvPr/>
          </p:nvSpPr>
          <p:spPr>
            <a:xfrm>
              <a:off x="6524625" y="5095875"/>
              <a:ext cx="2000100" cy="1000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11223F"/>
                  </a:solidFill>
                  <a:latin typeface="Oswald"/>
                  <a:ea typeface="Oswald"/>
                  <a:cs typeface="Oswald"/>
                  <a:sym typeface="Oswald"/>
                </a:rPr>
                <a:t>245+ Deals</a:t>
              </a:r>
              <a:endParaRPr b="1" sz="2800">
                <a:solidFill>
                  <a:srgbClr val="11223F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C5A880"/>
                  </a:solidFill>
                  <a:latin typeface="Inter"/>
                  <a:ea typeface="Inter"/>
                  <a:cs typeface="Inter"/>
                  <a:sym typeface="Inter"/>
                </a:rPr>
                <a:t>ADVISED &amp; CLEARED</a:t>
              </a:r>
              <a:endParaRPr b="1" sz="950">
                <a:solidFill>
                  <a:srgbClr val="11223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grpSp>
        <p:nvGrpSpPr>
          <p:cNvPr id="165" name="Google Shape;165;p16"/>
          <p:cNvGrpSpPr/>
          <p:nvPr/>
        </p:nvGrpSpPr>
        <p:grpSpPr>
          <a:xfrm>
            <a:off x="9048750" y="4905375"/>
            <a:ext cx="2476500" cy="1381200"/>
            <a:chOff x="9048750" y="4905375"/>
            <a:chExt cx="2476500" cy="1381200"/>
          </a:xfrm>
        </p:grpSpPr>
        <p:sp>
          <p:nvSpPr>
            <p:cNvPr id="166" name="Google Shape;166;p16"/>
            <p:cNvSpPr/>
            <p:nvPr/>
          </p:nvSpPr>
          <p:spPr>
            <a:xfrm>
              <a:off x="9048750" y="4905375"/>
              <a:ext cx="2476500" cy="1381200"/>
            </a:xfrm>
            <a:prstGeom prst="roundRect">
              <a:avLst>
                <a:gd fmla="val 551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6"/>
            <p:cNvSpPr/>
            <p:nvPr/>
          </p:nvSpPr>
          <p:spPr>
            <a:xfrm>
              <a:off x="9048750" y="4905375"/>
              <a:ext cx="57300" cy="1381200"/>
            </a:xfrm>
            <a:prstGeom prst="roundRect">
              <a:avLst>
                <a:gd fmla="val 50000" name="adj"/>
              </a:avLst>
            </a:prstGeom>
            <a:solidFill>
              <a:srgbClr val="C5A8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6"/>
            <p:cNvSpPr txBox="1"/>
            <p:nvPr/>
          </p:nvSpPr>
          <p:spPr>
            <a:xfrm>
              <a:off x="9286875" y="5095875"/>
              <a:ext cx="2000100" cy="1000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11223F"/>
                  </a:solidFill>
                  <a:latin typeface="Oswald"/>
                  <a:ea typeface="Oswald"/>
                  <a:cs typeface="Oswald"/>
                  <a:sym typeface="Oswald"/>
                </a:rPr>
                <a:t>USD 2.0B+</a:t>
              </a:r>
              <a:endParaRPr b="1" sz="2800">
                <a:solidFill>
                  <a:srgbClr val="11223F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C5A880"/>
                  </a:solidFill>
                  <a:latin typeface="Inter"/>
                  <a:ea typeface="Inter"/>
                  <a:cs typeface="Inter"/>
                  <a:sym typeface="Inter"/>
                </a:rPr>
                <a:t>COMBINED DEAL VALUE</a:t>
              </a:r>
              <a:endParaRPr b="1" sz="950">
                <a:solidFill>
                  <a:srgbClr val="11223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pic>
        <p:nvPicPr>
          <p:cNvPr descr="image.png" id="169" name="Google Shape;16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9925" y="966341"/>
            <a:ext cx="695325" cy="26521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 txBox="1"/>
          <p:nvPr/>
        </p:nvSpPr>
        <p:spPr>
          <a:xfrm>
            <a:off x="6262687" y="1593502"/>
            <a:ext cx="52626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End-to-end strategic advice backed by rigorous validation, asset intelligence, and target match algorithms.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666750" y="476250"/>
            <a:ext cx="10858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88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03 / M&amp;A ADVISORY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666750" y="771525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1223F"/>
                </a:solidFill>
                <a:latin typeface="Oswald"/>
                <a:ea typeface="Oswald"/>
                <a:cs typeface="Oswald"/>
                <a:sym typeface="Oswald"/>
              </a:rPr>
              <a:t>MERGERS &amp; </a:t>
            </a:r>
            <a:r>
              <a:rPr b="0" i="0" lang="en-US" sz="3150" u="none" cap="none" strike="noStrike">
                <a:solidFill>
                  <a:srgbClr val="C5A880"/>
                </a:solidFill>
                <a:latin typeface="Oswald Medium"/>
                <a:ea typeface="Oswald Medium"/>
                <a:cs typeface="Oswald Medium"/>
                <a:sym typeface="Oswald Medium"/>
              </a:rPr>
              <a:t>ACQUISITIONS</a:t>
            </a:r>
            <a:endParaRPr/>
          </a:p>
        </p:txBody>
      </p:sp>
      <p:sp>
        <p:nvSpPr>
          <p:cNvPr id="173" name="Google Shape;173;p16"/>
          <p:cNvSpPr/>
          <p:nvPr/>
        </p:nvSpPr>
        <p:spPr>
          <a:xfrm>
            <a:off x="666750" y="1288702"/>
            <a:ext cx="10858500" cy="19200"/>
          </a:xfrm>
          <a:prstGeom prst="rect">
            <a:avLst/>
          </a:prstGeom>
          <a:solidFill>
            <a:srgbClr val="1122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666750" y="676275"/>
            <a:ext cx="952500" cy="960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0" name="Google Shape;180;p17"/>
          <p:cNvGrpSpPr/>
          <p:nvPr/>
        </p:nvGrpSpPr>
        <p:grpSpPr>
          <a:xfrm>
            <a:off x="666750" y="2190750"/>
            <a:ext cx="5143500" cy="2476500"/>
            <a:chOff x="666750" y="2190750"/>
            <a:chExt cx="5143500" cy="2476500"/>
          </a:xfrm>
        </p:grpSpPr>
        <p:sp>
          <p:nvSpPr>
            <p:cNvPr id="181" name="Google Shape;181;p17"/>
            <p:cNvSpPr/>
            <p:nvPr/>
          </p:nvSpPr>
          <p:spPr>
            <a:xfrm>
              <a:off x="666750" y="2190750"/>
              <a:ext cx="5143500" cy="24765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7"/>
            <p:cNvSpPr/>
            <p:nvPr/>
          </p:nvSpPr>
          <p:spPr>
            <a:xfrm>
              <a:off x="666750" y="2190750"/>
              <a:ext cx="5143500" cy="57300"/>
            </a:xfrm>
            <a:prstGeom prst="roundRect">
              <a:avLst>
                <a:gd fmla="val 50000" name="adj"/>
              </a:avLst>
            </a:prstGeom>
            <a:solidFill>
              <a:srgbClr val="1122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3" name="Google Shape;183;p17"/>
            <p:cNvGrpSpPr/>
            <p:nvPr/>
          </p:nvGrpSpPr>
          <p:grpSpPr>
            <a:xfrm>
              <a:off x="904875" y="2428875"/>
              <a:ext cx="4667400" cy="2000100"/>
              <a:chOff x="904875" y="2428875"/>
              <a:chExt cx="4667400" cy="2000100"/>
            </a:xfrm>
          </p:grpSpPr>
          <p:sp>
            <p:nvSpPr>
              <p:cNvPr id="184" name="Google Shape;184;p17"/>
              <p:cNvSpPr/>
              <p:nvPr/>
            </p:nvSpPr>
            <p:spPr>
              <a:xfrm>
                <a:off x="904875" y="2428875"/>
                <a:ext cx="4667400" cy="20001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17"/>
              <p:cNvSpPr txBox="1"/>
              <p:nvPr/>
            </p:nvSpPr>
            <p:spPr>
              <a:xfrm>
                <a:off x="904875" y="2428875"/>
                <a:ext cx="4667400" cy="20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000">
                    <a:solidFill>
                      <a:srgbClr val="C5A88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layers </a:t>
                </a:r>
                <a:r>
                  <a:rPr b="0" lang="en-US" sz="1600">
                    <a:solidFill>
                      <a:srgbClr val="11223F"/>
                    </a:solidFill>
                    <a:latin typeface="Oswald SemiBold"/>
                    <a:ea typeface="Oswald SemiBold"/>
                    <a:cs typeface="Oswald SemiBold"/>
                    <a:sym typeface="Oswald SemiBold"/>
                  </a:rPr>
                  <a:t>STACK COMPONENTS</a:t>
                </a:r>
                <a:endParaRPr b="0" sz="2000">
                  <a:solidFill>
                    <a:srgbClr val="C5A880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1350"/>
                  </a:spcBef>
                  <a:spcAft>
                    <a:spcPts val="0"/>
                  </a:spcAft>
                  <a:buNone/>
                </a:pPr>
                <a:r>
                  <a:rPr b="0" lang="en-US" sz="1150">
                    <a:solidFill>
                      <a:srgbClr val="C5A880"/>
                    </a:solidFill>
                    <a:latin typeface="Inter"/>
                    <a:ea typeface="Inter"/>
                    <a:cs typeface="Inter"/>
                    <a:sym typeface="Inter"/>
                  </a:rPr>
                  <a:t>▪</a:t>
                </a:r>
                <a:r>
                  <a:rPr b="1" lang="en-US" sz="1150">
                    <a:solidFill>
                      <a:srgbClr val="11223F"/>
                    </a:solidFill>
                    <a:latin typeface="Inter"/>
                    <a:ea typeface="Inter"/>
                    <a:cs typeface="Inter"/>
                    <a:sym typeface="Inter"/>
                  </a:rPr>
                  <a:t>Acquisition Finance:</a:t>
                </a:r>
                <a:r>
                  <a:rPr b="0" lang="en-US" sz="115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Mezzanine options, unitranche, and hybrid structures.</a:t>
                </a:r>
                <a:endParaRPr b="0" sz="1150">
                  <a:solidFill>
                    <a:srgbClr val="C5A880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-US" sz="1150">
                    <a:solidFill>
                      <a:srgbClr val="C5A880"/>
                    </a:solidFill>
                    <a:latin typeface="Inter"/>
                    <a:ea typeface="Inter"/>
                    <a:cs typeface="Inter"/>
                    <a:sym typeface="Inter"/>
                  </a:rPr>
                  <a:t>▪</a:t>
                </a:r>
                <a:r>
                  <a:rPr b="1" lang="en-US" sz="1150">
                    <a:solidFill>
                      <a:srgbClr val="11223F"/>
                    </a:solidFill>
                    <a:latin typeface="Inter"/>
                    <a:ea typeface="Inter"/>
                    <a:cs typeface="Inter"/>
                    <a:sym typeface="Inter"/>
                  </a:rPr>
                  <a:t>Waterfall</a:t>
                </a:r>
                <a:r>
                  <a:rPr b="1" lang="en-US" sz="1150">
                    <a:solidFill>
                      <a:srgbClr val="11223F"/>
                    </a:solidFill>
                    <a:latin typeface="Inter"/>
                    <a:ea typeface="Inter"/>
                    <a:cs typeface="Inter"/>
                    <a:sym typeface="Inter"/>
                  </a:rPr>
                  <a:t> Design:</a:t>
                </a:r>
                <a:r>
                  <a:rPr b="0" lang="en-US" sz="115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Custom equity return stacks and structural optimization plans.</a:t>
                </a:r>
                <a:endParaRPr b="0" sz="1150">
                  <a:solidFill>
                    <a:srgbClr val="C5A880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</p:grpSp>
      <p:grpSp>
        <p:nvGrpSpPr>
          <p:cNvPr id="186" name="Google Shape;186;p17"/>
          <p:cNvGrpSpPr/>
          <p:nvPr/>
        </p:nvGrpSpPr>
        <p:grpSpPr>
          <a:xfrm>
            <a:off x="666750" y="4905375"/>
            <a:ext cx="2428800" cy="1381200"/>
            <a:chOff x="666750" y="4905375"/>
            <a:chExt cx="2428800" cy="1381200"/>
          </a:xfrm>
        </p:grpSpPr>
        <p:sp>
          <p:nvSpPr>
            <p:cNvPr id="187" name="Google Shape;187;p17"/>
            <p:cNvSpPr/>
            <p:nvPr/>
          </p:nvSpPr>
          <p:spPr>
            <a:xfrm>
              <a:off x="666750" y="4905375"/>
              <a:ext cx="2428800" cy="1381200"/>
            </a:xfrm>
            <a:prstGeom prst="roundRect">
              <a:avLst>
                <a:gd fmla="val 551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7"/>
            <p:cNvSpPr/>
            <p:nvPr/>
          </p:nvSpPr>
          <p:spPr>
            <a:xfrm>
              <a:off x="666750" y="4905375"/>
              <a:ext cx="57300" cy="1381200"/>
            </a:xfrm>
            <a:prstGeom prst="roundRect">
              <a:avLst>
                <a:gd fmla="val 50000" name="adj"/>
              </a:avLst>
            </a:prstGeom>
            <a:solidFill>
              <a:srgbClr val="C5A8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9" name="Google Shape;189;p17"/>
            <p:cNvGrpSpPr/>
            <p:nvPr/>
          </p:nvGrpSpPr>
          <p:grpSpPr>
            <a:xfrm>
              <a:off x="904875" y="5095875"/>
              <a:ext cx="2000100" cy="1000200"/>
              <a:chOff x="904875" y="5095875"/>
              <a:chExt cx="2000100" cy="1000200"/>
            </a:xfrm>
          </p:grpSpPr>
          <p:sp>
            <p:nvSpPr>
              <p:cNvPr id="190" name="Google Shape;190;p17"/>
              <p:cNvSpPr/>
              <p:nvPr/>
            </p:nvSpPr>
            <p:spPr>
              <a:xfrm>
                <a:off x="904875" y="5095875"/>
                <a:ext cx="2000100" cy="1000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7"/>
              <p:cNvSpPr txBox="1"/>
              <p:nvPr/>
            </p:nvSpPr>
            <p:spPr>
              <a:xfrm>
                <a:off x="904875" y="5095875"/>
                <a:ext cx="2000100" cy="10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590">
                    <a:solidFill>
                      <a:srgbClr val="11223F"/>
                    </a:solidFill>
                    <a:latin typeface="Oswald"/>
                    <a:ea typeface="Oswald"/>
                    <a:cs typeface="Oswald"/>
                    <a:sym typeface="Oswald"/>
                  </a:rPr>
                  <a:t>45+ Transactions</a:t>
                </a:r>
                <a:endParaRPr b="1" sz="2590">
                  <a:solidFill>
                    <a:srgbClr val="11223F"/>
                  </a:solidFill>
                  <a:latin typeface="Oswald"/>
                  <a:ea typeface="Oswald"/>
                  <a:cs typeface="Oswald"/>
                  <a:sym typeface="Oswa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US" sz="879">
                    <a:solidFill>
                      <a:srgbClr val="C5A880"/>
                    </a:solidFill>
                    <a:latin typeface="Inter"/>
                    <a:ea typeface="Inter"/>
                    <a:cs typeface="Inter"/>
                    <a:sym typeface="Inter"/>
                  </a:rPr>
                  <a:t>LBOS STRUCTURED</a:t>
                </a:r>
                <a:endParaRPr b="1" sz="879">
                  <a:solidFill>
                    <a:srgbClr val="11223F"/>
                  </a:solidFill>
                  <a:latin typeface="Oswald"/>
                  <a:ea typeface="Oswald"/>
                  <a:cs typeface="Oswald"/>
                  <a:sym typeface="Oswald"/>
                </a:endParaRPr>
              </a:p>
            </p:txBody>
          </p:sp>
        </p:grpSp>
      </p:grpSp>
      <p:pic>
        <p:nvPicPr>
          <p:cNvPr descr="image.png" id="192" name="Google Shape;19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39450" y="966341"/>
            <a:ext cx="685800" cy="26521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7"/>
          <p:cNvSpPr txBox="1"/>
          <p:nvPr/>
        </p:nvSpPr>
        <p:spPr>
          <a:xfrm>
            <a:off x="666750" y="1593502"/>
            <a:ext cx="52626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Bespoke customization of corporate capital layers, balancing overall cost of funding with operational flexibility.</a:t>
            </a:r>
            <a:endParaRPr/>
          </a:p>
        </p:txBody>
      </p:sp>
      <p:grpSp>
        <p:nvGrpSpPr>
          <p:cNvPr id="194" name="Google Shape;194;p17"/>
          <p:cNvGrpSpPr/>
          <p:nvPr/>
        </p:nvGrpSpPr>
        <p:grpSpPr>
          <a:xfrm>
            <a:off x="3381375" y="4905375"/>
            <a:ext cx="2428800" cy="1381200"/>
            <a:chOff x="3381375" y="4905375"/>
            <a:chExt cx="2428800" cy="1381200"/>
          </a:xfrm>
        </p:grpSpPr>
        <p:sp>
          <p:nvSpPr>
            <p:cNvPr id="195" name="Google Shape;195;p17"/>
            <p:cNvSpPr/>
            <p:nvPr/>
          </p:nvSpPr>
          <p:spPr>
            <a:xfrm>
              <a:off x="3381375" y="4905375"/>
              <a:ext cx="2428800" cy="1381200"/>
            </a:xfrm>
            <a:prstGeom prst="roundRect">
              <a:avLst>
                <a:gd fmla="val 551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3381375" y="4905375"/>
              <a:ext cx="57300" cy="1381200"/>
            </a:xfrm>
            <a:prstGeom prst="roundRect">
              <a:avLst>
                <a:gd fmla="val 50000" name="adj"/>
              </a:avLst>
            </a:prstGeom>
            <a:solidFill>
              <a:srgbClr val="C5A8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7" name="Google Shape;197;p17"/>
            <p:cNvGrpSpPr/>
            <p:nvPr/>
          </p:nvGrpSpPr>
          <p:grpSpPr>
            <a:xfrm>
              <a:off x="3619500" y="5095875"/>
              <a:ext cx="1990800" cy="1000200"/>
              <a:chOff x="3619500" y="5095875"/>
              <a:chExt cx="1990800" cy="1000200"/>
            </a:xfrm>
          </p:grpSpPr>
          <p:sp>
            <p:nvSpPr>
              <p:cNvPr id="198" name="Google Shape;198;p17"/>
              <p:cNvSpPr/>
              <p:nvPr/>
            </p:nvSpPr>
            <p:spPr>
              <a:xfrm>
                <a:off x="3619500" y="5095875"/>
                <a:ext cx="1990800" cy="1000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17"/>
              <p:cNvSpPr txBox="1"/>
              <p:nvPr/>
            </p:nvSpPr>
            <p:spPr>
              <a:xfrm>
                <a:off x="3619500" y="5095875"/>
                <a:ext cx="1990800" cy="10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800">
                    <a:solidFill>
                      <a:srgbClr val="11223F"/>
                    </a:solidFill>
                    <a:latin typeface="Oswald"/>
                    <a:ea typeface="Oswald"/>
                    <a:cs typeface="Oswald"/>
                    <a:sym typeface="Oswald"/>
                  </a:rPr>
                  <a:t>USD 85M+</a:t>
                </a:r>
                <a:endParaRPr b="1" sz="2800">
                  <a:solidFill>
                    <a:srgbClr val="11223F"/>
                  </a:solidFill>
                  <a:latin typeface="Oswald"/>
                  <a:ea typeface="Oswald"/>
                  <a:cs typeface="Oswald"/>
                  <a:sym typeface="Oswa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C5A880"/>
                    </a:solidFill>
                    <a:latin typeface="Inter"/>
                    <a:ea typeface="Inter"/>
                    <a:cs typeface="Inter"/>
                    <a:sym typeface="Inter"/>
                  </a:rPr>
                  <a:t>PROJECT FINANCE STACK</a:t>
                </a:r>
                <a:endParaRPr b="1" sz="950">
                  <a:solidFill>
                    <a:srgbClr val="11223F"/>
                  </a:solidFill>
                  <a:latin typeface="Oswald"/>
                  <a:ea typeface="Oswald"/>
                  <a:cs typeface="Oswald"/>
                  <a:sym typeface="Oswald"/>
                </a:endParaRPr>
              </a:p>
            </p:txBody>
          </p:sp>
        </p:grpSp>
      </p:grpSp>
      <p:pic>
        <p:nvPicPr>
          <p:cNvPr descr="A clean, sophisticated high-angle architectural photograph of corporate financial district skyscrapers with glass facades reflecting golden hour twilight sky, deep navy blue and warm gold ambient lighting, ultra-professional corporate aesthetic." id="200" name="Google Shape;200;p17"/>
          <p:cNvPicPr preferRelativeResize="0"/>
          <p:nvPr/>
        </p:nvPicPr>
        <p:blipFill rotWithShape="1">
          <a:blip r:embed="rId5">
            <a:alphaModFix/>
          </a:blip>
          <a:srcRect b="0" l="2034" r="2034" t="0"/>
          <a:stretch/>
        </p:blipFill>
        <p:spPr>
          <a:xfrm>
            <a:off x="6286500" y="2190750"/>
            <a:ext cx="5238900" cy="4095900"/>
          </a:xfrm>
          <a:prstGeom prst="roundRect">
            <a:avLst>
              <a:gd fmla="val 2790" name="adj"/>
            </a:avLst>
          </a:prstGeom>
          <a:noFill/>
          <a:ln>
            <a:noFill/>
          </a:ln>
        </p:spPr>
      </p:pic>
      <p:sp>
        <p:nvSpPr>
          <p:cNvPr id="201" name="Google Shape;201;p17"/>
          <p:cNvSpPr txBox="1"/>
          <p:nvPr/>
        </p:nvSpPr>
        <p:spPr>
          <a:xfrm>
            <a:off x="666750" y="476250"/>
            <a:ext cx="10858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88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04 / CUSTOMIZED STRUCTURING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666750" y="771525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1223F"/>
                </a:solidFill>
                <a:latin typeface="Oswald"/>
                <a:ea typeface="Oswald"/>
                <a:cs typeface="Oswald"/>
                <a:sym typeface="Oswald"/>
              </a:rPr>
              <a:t>STRUCTURED </a:t>
            </a:r>
            <a:r>
              <a:rPr b="0" i="0" lang="en-US" sz="3150" u="none" cap="none" strike="noStrike">
                <a:solidFill>
                  <a:srgbClr val="C5A880"/>
                </a:solidFill>
                <a:latin typeface="Oswald Medium"/>
                <a:ea typeface="Oswald Medium"/>
                <a:cs typeface="Oswald Medium"/>
                <a:sym typeface="Oswald Medium"/>
              </a:rPr>
              <a:t>FINANCE</a:t>
            </a:r>
            <a:endParaRPr/>
          </a:p>
        </p:txBody>
      </p:sp>
      <p:sp>
        <p:nvSpPr>
          <p:cNvPr id="203" name="Google Shape;203;p17"/>
          <p:cNvSpPr/>
          <p:nvPr/>
        </p:nvSpPr>
        <p:spPr>
          <a:xfrm>
            <a:off x="666750" y="1288702"/>
            <a:ext cx="10858500" cy="19200"/>
          </a:xfrm>
          <a:prstGeom prst="rect">
            <a:avLst/>
          </a:prstGeom>
          <a:solidFill>
            <a:srgbClr val="1122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666750" y="676275"/>
            <a:ext cx="952500" cy="960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397175"/>
            <a:ext cx="2571750" cy="2841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9000" y="2397175"/>
            <a:ext cx="2571750" cy="2841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2397175"/>
            <a:ext cx="2571750" cy="2841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53500" y="2397175"/>
            <a:ext cx="2571750" cy="2841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29925" y="966341"/>
            <a:ext cx="695325" cy="265211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8"/>
          <p:cNvSpPr txBox="1"/>
          <p:nvPr/>
        </p:nvSpPr>
        <p:spPr>
          <a:xfrm>
            <a:off x="666750" y="1593502"/>
            <a:ext cx="952500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Our foundational execution layers ensure transactions strictly align with international valuation standards and compliance limits.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904875" y="2663874"/>
            <a:ext cx="2095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88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SUPPORT 01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904875" y="2978199"/>
            <a:ext cx="22002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1223F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RESEARCH &amp; VALUATIONS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904875" y="3644949"/>
            <a:ext cx="20955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Granular cash flow projections, DCF valuation models, and operational benchmark analysis across target industries.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3667125" y="2663874"/>
            <a:ext cx="2095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88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SUPPORT 02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3667125" y="2978199"/>
            <a:ext cx="22002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1223F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EXECUTION SUPPORT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3667125" y="3349674"/>
            <a:ext cx="20955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Strategic investor data room setup, credential compilations, and structural diligence reviews for rapid closing.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6429375" y="2663874"/>
            <a:ext cx="2095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88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SUPPORT 03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6429375" y="2978199"/>
            <a:ext cx="22002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1223F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RISK &amp; COMPLIANCE</a:t>
            </a:r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6429375" y="3349674"/>
            <a:ext cx="20955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Comprehensive transaction governance, cross-border compliance checks, and regulatory alignments.</a:t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9191625" y="2663874"/>
            <a:ext cx="2095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88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SUPPORT 04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9191625" y="2978199"/>
            <a:ext cx="22002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1223F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CLIENT RELATIONS</a:t>
            </a:r>
            <a:endParaRPr/>
          </a:p>
        </p:txBody>
      </p:sp>
      <p:sp>
        <p:nvSpPr>
          <p:cNvPr id="227" name="Google Shape;227;p18"/>
          <p:cNvSpPr txBox="1"/>
          <p:nvPr/>
        </p:nvSpPr>
        <p:spPr>
          <a:xfrm>
            <a:off x="9191625" y="3349674"/>
            <a:ext cx="20955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Sustained strategic advisory post-deal, custom portfolio reporting schedules, and key stakeholder alignments.</a:t>
            </a:r>
            <a:endParaRPr/>
          </a:p>
        </p:txBody>
      </p:sp>
      <p:sp>
        <p:nvSpPr>
          <p:cNvPr id="228" name="Google Shape;228;p18"/>
          <p:cNvSpPr txBox="1"/>
          <p:nvPr/>
        </p:nvSpPr>
        <p:spPr>
          <a:xfrm>
            <a:off x="666750" y="476250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88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05 / PILLARS</a:t>
            </a:r>
            <a:endParaRPr/>
          </a:p>
        </p:txBody>
      </p:sp>
      <p:sp>
        <p:nvSpPr>
          <p:cNvPr id="229" name="Google Shape;229;p18"/>
          <p:cNvSpPr txBox="1"/>
          <p:nvPr/>
        </p:nvSpPr>
        <p:spPr>
          <a:xfrm>
            <a:off x="666750" y="771525"/>
            <a:ext cx="11401425" cy="4790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1223F"/>
                </a:solidFill>
                <a:latin typeface="Oswald"/>
                <a:ea typeface="Oswald"/>
                <a:cs typeface="Oswald"/>
                <a:sym typeface="Oswald"/>
              </a:rPr>
              <a:t>DEAL SUPPORT </a:t>
            </a:r>
            <a:r>
              <a:rPr b="0" i="0" lang="en-US" sz="3150" u="none" cap="none" strike="noStrike">
                <a:solidFill>
                  <a:srgbClr val="C5A880"/>
                </a:solidFill>
                <a:latin typeface="Oswald Medium"/>
                <a:ea typeface="Oswald Medium"/>
                <a:cs typeface="Oswald Medium"/>
                <a:sym typeface="Oswald Medium"/>
              </a:rPr>
              <a:t>PILLARS</a:t>
            </a:r>
            <a:endParaRPr/>
          </a:p>
        </p:txBody>
      </p:sp>
      <p:sp>
        <p:nvSpPr>
          <p:cNvPr id="230" name="Google Shape;230;p18"/>
          <p:cNvSpPr/>
          <p:nvPr/>
        </p:nvSpPr>
        <p:spPr>
          <a:xfrm>
            <a:off x="666750" y="1288702"/>
            <a:ext cx="10858500" cy="19050"/>
          </a:xfrm>
          <a:prstGeom prst="rect">
            <a:avLst/>
          </a:prstGeom>
          <a:solidFill>
            <a:srgbClr val="1122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8"/>
          <p:cNvSpPr/>
          <p:nvPr/>
        </p:nvSpPr>
        <p:spPr>
          <a:xfrm>
            <a:off x="666750" y="676275"/>
            <a:ext cx="952500" cy="9525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19"/>
          <p:cNvGrpSpPr/>
          <p:nvPr/>
        </p:nvGrpSpPr>
        <p:grpSpPr>
          <a:xfrm>
            <a:off x="631675" y="2489034"/>
            <a:ext cx="5143500" cy="2065649"/>
            <a:chOff x="666750" y="2190750"/>
            <a:chExt cx="5143500" cy="2476500"/>
          </a:xfrm>
        </p:grpSpPr>
        <p:sp>
          <p:nvSpPr>
            <p:cNvPr id="238" name="Google Shape;238;p19"/>
            <p:cNvSpPr/>
            <p:nvPr/>
          </p:nvSpPr>
          <p:spPr>
            <a:xfrm>
              <a:off x="666750" y="2190750"/>
              <a:ext cx="5143500" cy="24765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9"/>
            <p:cNvSpPr/>
            <p:nvPr/>
          </p:nvSpPr>
          <p:spPr>
            <a:xfrm>
              <a:off x="666750" y="2190750"/>
              <a:ext cx="5143500" cy="57300"/>
            </a:xfrm>
            <a:prstGeom prst="roundRect">
              <a:avLst>
                <a:gd fmla="val 50000" name="adj"/>
              </a:avLst>
            </a:prstGeom>
            <a:solidFill>
              <a:srgbClr val="1122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9"/>
            <p:cNvSpPr txBox="1"/>
            <p:nvPr/>
          </p:nvSpPr>
          <p:spPr>
            <a:xfrm>
              <a:off x="904875" y="2428875"/>
              <a:ext cx="46674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C5A88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security </a:t>
              </a:r>
              <a:r>
                <a:rPr b="0" lang="en-US" sz="1600">
                  <a:solidFill>
                    <a:srgbClr val="11223F"/>
                  </a:solidFill>
                  <a:latin typeface="Oswald SemiBold"/>
                  <a:ea typeface="Oswald SemiBold"/>
                  <a:cs typeface="Oswald SemiBold"/>
                  <a:sym typeface="Oswald SemiBold"/>
                </a:rPr>
                <a:t>DEFENSE MEASURES</a:t>
              </a:r>
              <a:endParaRPr b="0" sz="1600">
                <a:solidFill>
                  <a:srgbClr val="11223F"/>
                </a:solidFill>
                <a:latin typeface="Oswald SemiBold"/>
                <a:ea typeface="Oswald SemiBold"/>
                <a:cs typeface="Oswald SemiBold"/>
                <a:sym typeface="Oswald SemiBol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C5A880"/>
                  </a:solidFill>
                  <a:latin typeface="Inter"/>
                  <a:ea typeface="Inter"/>
                  <a:cs typeface="Inter"/>
                  <a:sym typeface="Inter"/>
                </a:rPr>
                <a:t>▪</a:t>
              </a:r>
              <a:r>
                <a:rPr b="1" lang="en-US" sz="1150">
                  <a:solidFill>
                    <a:srgbClr val="11223F"/>
                  </a:solidFill>
                  <a:latin typeface="Inter"/>
                  <a:ea typeface="Inter"/>
                  <a:cs typeface="Inter"/>
                  <a:sym typeface="Inter"/>
                </a:rPr>
                <a:t>Sustainable Financing:</a:t>
              </a:r>
              <a:r>
                <a:rPr lang="en-US" sz="11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Structuring green, social, and sustainability-linked options.</a:t>
              </a:r>
              <a:endParaRPr sz="11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C5A880"/>
                  </a:solidFill>
                  <a:latin typeface="Inter"/>
                  <a:ea typeface="Inter"/>
                  <a:cs typeface="Inter"/>
                  <a:sym typeface="Inter"/>
                </a:rPr>
                <a:t>▪</a:t>
              </a:r>
              <a:r>
                <a:rPr b="1" lang="en-US" sz="1150">
                  <a:solidFill>
                    <a:srgbClr val="11223F"/>
                  </a:solidFill>
                  <a:latin typeface="Inter"/>
                  <a:ea typeface="Inter"/>
                  <a:cs typeface="Inter"/>
                  <a:sym typeface="Inter"/>
                </a:rPr>
                <a:t>Risk Advisory:</a:t>
              </a:r>
              <a:r>
                <a:rPr lang="en-US" sz="11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FX, interest rate, and currency swap </a:t>
              </a:r>
              <a:r>
                <a:rPr lang="en-US" sz="11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modelling</a:t>
              </a:r>
              <a:r>
                <a:rPr lang="en-US" sz="11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to manage cash flows.</a:t>
              </a:r>
              <a:endParaRPr sz="11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1" name="Google Shape;241;p19"/>
          <p:cNvGrpSpPr/>
          <p:nvPr/>
        </p:nvGrpSpPr>
        <p:grpSpPr>
          <a:xfrm>
            <a:off x="666750" y="4905375"/>
            <a:ext cx="2428800" cy="1381200"/>
            <a:chOff x="666750" y="4905375"/>
            <a:chExt cx="2428800" cy="1381200"/>
          </a:xfrm>
        </p:grpSpPr>
        <p:sp>
          <p:nvSpPr>
            <p:cNvPr id="242" name="Google Shape;242;p19"/>
            <p:cNvSpPr/>
            <p:nvPr/>
          </p:nvSpPr>
          <p:spPr>
            <a:xfrm>
              <a:off x="666750" y="4905375"/>
              <a:ext cx="2428800" cy="1381200"/>
            </a:xfrm>
            <a:prstGeom prst="roundRect">
              <a:avLst>
                <a:gd fmla="val 551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9"/>
            <p:cNvSpPr/>
            <p:nvPr/>
          </p:nvSpPr>
          <p:spPr>
            <a:xfrm>
              <a:off x="666750" y="4905375"/>
              <a:ext cx="57300" cy="1381200"/>
            </a:xfrm>
            <a:prstGeom prst="roundRect">
              <a:avLst>
                <a:gd fmla="val 50000" name="adj"/>
              </a:avLst>
            </a:prstGeom>
            <a:solidFill>
              <a:srgbClr val="C5A8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9"/>
            <p:cNvSpPr txBox="1"/>
            <p:nvPr/>
          </p:nvSpPr>
          <p:spPr>
            <a:xfrm>
              <a:off x="904875" y="5095875"/>
              <a:ext cx="20001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00">
                  <a:solidFill>
                    <a:srgbClr val="11223F"/>
                  </a:solidFill>
                  <a:latin typeface="Oswald"/>
                  <a:ea typeface="Oswald"/>
                  <a:cs typeface="Oswald"/>
                  <a:sym typeface="Oswald"/>
                </a:rPr>
                <a:t>USD 45M+</a:t>
              </a:r>
              <a:endParaRPr b="1" sz="2700">
                <a:solidFill>
                  <a:srgbClr val="11223F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C5A880"/>
                  </a:solidFill>
                  <a:latin typeface="Inter"/>
                  <a:ea typeface="Inter"/>
                  <a:cs typeface="Inter"/>
                  <a:sym typeface="Inter"/>
                </a:rPr>
                <a:t>GREEN DEAL ALLOCATIONS</a:t>
              </a:r>
              <a:endParaRPr b="1" sz="950">
                <a:solidFill>
                  <a:srgbClr val="C5A8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5" name="Google Shape;245;p19"/>
          <p:cNvGrpSpPr/>
          <p:nvPr/>
        </p:nvGrpSpPr>
        <p:grpSpPr>
          <a:xfrm>
            <a:off x="3381375" y="4905375"/>
            <a:ext cx="2428800" cy="1381200"/>
            <a:chOff x="3381375" y="4905375"/>
            <a:chExt cx="2428800" cy="1381200"/>
          </a:xfrm>
        </p:grpSpPr>
        <p:sp>
          <p:nvSpPr>
            <p:cNvPr id="246" name="Google Shape;246;p19"/>
            <p:cNvSpPr/>
            <p:nvPr/>
          </p:nvSpPr>
          <p:spPr>
            <a:xfrm>
              <a:off x="3381375" y="4905375"/>
              <a:ext cx="2428800" cy="1381200"/>
            </a:xfrm>
            <a:prstGeom prst="roundRect">
              <a:avLst>
                <a:gd fmla="val 551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3381375" y="4905375"/>
              <a:ext cx="57300" cy="1381200"/>
            </a:xfrm>
            <a:prstGeom prst="roundRect">
              <a:avLst>
                <a:gd fmla="val 50000" name="adj"/>
              </a:avLst>
            </a:prstGeom>
            <a:solidFill>
              <a:srgbClr val="C5A8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9"/>
            <p:cNvSpPr txBox="1"/>
            <p:nvPr/>
          </p:nvSpPr>
          <p:spPr>
            <a:xfrm>
              <a:off x="3619500" y="5095875"/>
              <a:ext cx="20001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00">
                  <a:solidFill>
                    <a:srgbClr val="11223F"/>
                  </a:solidFill>
                  <a:latin typeface="Oswald"/>
                  <a:ea typeface="Oswald"/>
                  <a:cs typeface="Oswald"/>
                  <a:sym typeface="Oswald"/>
                </a:rPr>
                <a:t>18+ Active</a:t>
              </a:r>
              <a:endParaRPr b="1" sz="2700">
                <a:solidFill>
                  <a:srgbClr val="11223F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C5A880"/>
                  </a:solidFill>
                  <a:latin typeface="Inter"/>
                  <a:ea typeface="Inter"/>
                  <a:cs typeface="Inter"/>
                  <a:sym typeface="Inter"/>
                </a:rPr>
                <a:t>HEDGING FRAMEWORKS</a:t>
              </a:r>
              <a:endParaRPr b="1" sz="950">
                <a:solidFill>
                  <a:srgbClr val="C5A8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descr="image.png" id="249" name="Google Shape;24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39450" y="966341"/>
            <a:ext cx="685800" cy="2652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ophisticated high-angle architectural photograph of a modern corporate skyscraper with integrated vertical green gardens, solar panels reflecting the golden hour twilight sky, deep navy blue and warm gold accents, clean elite professional corporate sustainability aesthetic." id="250" name="Google Shape;250;p19"/>
          <p:cNvPicPr preferRelativeResize="0"/>
          <p:nvPr/>
        </p:nvPicPr>
        <p:blipFill rotWithShape="1">
          <a:blip r:embed="rId5">
            <a:alphaModFix/>
          </a:blip>
          <a:srcRect b="0" l="2034" r="2034" t="0"/>
          <a:stretch/>
        </p:blipFill>
        <p:spPr>
          <a:xfrm>
            <a:off x="6286500" y="2190750"/>
            <a:ext cx="5238900" cy="4095900"/>
          </a:xfrm>
          <a:prstGeom prst="roundRect">
            <a:avLst>
              <a:gd fmla="val 2790" name="adj"/>
            </a:avLst>
          </a:prstGeom>
          <a:noFill/>
          <a:ln>
            <a:noFill/>
          </a:ln>
        </p:spPr>
      </p:pic>
      <p:sp>
        <p:nvSpPr>
          <p:cNvPr id="251" name="Google Shape;251;p19"/>
          <p:cNvSpPr txBox="1"/>
          <p:nvPr/>
        </p:nvSpPr>
        <p:spPr>
          <a:xfrm>
            <a:off x="666750" y="1593502"/>
            <a:ext cx="52626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Mobilising</a:t>
            </a:r>
            <a:r>
              <a:rPr b="0" i="0" lang="en-US" sz="12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sustainable capital and deploying strategic derivatives strategies to insulate cross-border transactions from systemic volatility.</a:t>
            </a:r>
            <a:endParaRPr/>
          </a:p>
        </p:txBody>
      </p:sp>
      <p:sp>
        <p:nvSpPr>
          <p:cNvPr id="252" name="Google Shape;252;p19"/>
          <p:cNvSpPr txBox="1"/>
          <p:nvPr/>
        </p:nvSpPr>
        <p:spPr>
          <a:xfrm>
            <a:off x="666750" y="476250"/>
            <a:ext cx="10858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88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06 / ESG &amp; RISK</a:t>
            </a:r>
            <a:endParaRPr/>
          </a:p>
        </p:txBody>
      </p:sp>
      <p:sp>
        <p:nvSpPr>
          <p:cNvPr id="253" name="Google Shape;253;p19"/>
          <p:cNvSpPr txBox="1"/>
          <p:nvPr/>
        </p:nvSpPr>
        <p:spPr>
          <a:xfrm>
            <a:off x="666750" y="771525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1223F"/>
                </a:solidFill>
                <a:latin typeface="Oswald"/>
                <a:ea typeface="Oswald"/>
                <a:cs typeface="Oswald"/>
                <a:sym typeface="Oswald"/>
              </a:rPr>
              <a:t>SUSTAINABILITY &amp; </a:t>
            </a:r>
            <a:r>
              <a:rPr b="0" i="0" lang="en-US" sz="3150" u="none" cap="none" strike="noStrike">
                <a:solidFill>
                  <a:srgbClr val="C5A880"/>
                </a:solidFill>
                <a:latin typeface="Oswald Medium"/>
                <a:ea typeface="Oswald Medium"/>
                <a:cs typeface="Oswald Medium"/>
                <a:sym typeface="Oswald Medium"/>
              </a:rPr>
              <a:t>RISK</a:t>
            </a:r>
            <a:endParaRPr/>
          </a:p>
        </p:txBody>
      </p:sp>
      <p:sp>
        <p:nvSpPr>
          <p:cNvPr id="254" name="Google Shape;254;p19"/>
          <p:cNvSpPr/>
          <p:nvPr/>
        </p:nvSpPr>
        <p:spPr>
          <a:xfrm>
            <a:off x="666750" y="1288702"/>
            <a:ext cx="10858500" cy="19200"/>
          </a:xfrm>
          <a:prstGeom prst="rect">
            <a:avLst/>
          </a:prstGeom>
          <a:solidFill>
            <a:srgbClr val="1122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666750" y="676275"/>
            <a:ext cx="952500" cy="960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1593502"/>
            <a:ext cx="3460700" cy="2298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65575" y="1593502"/>
            <a:ext cx="3460700" cy="2298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1593502"/>
            <a:ext cx="3460849" cy="2298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750" y="4082950"/>
            <a:ext cx="3460700" cy="2298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65575" y="4082950"/>
            <a:ext cx="3460700" cy="2298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64400" y="4082950"/>
            <a:ext cx="3460849" cy="2298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829925" y="966341"/>
            <a:ext cx="695325" cy="265211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0"/>
          <p:cNvSpPr txBox="1"/>
          <p:nvPr/>
        </p:nvSpPr>
        <p:spPr>
          <a:xfrm>
            <a:off x="904875" y="1860202"/>
            <a:ext cx="2984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88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30% MARKET DEPTH</a:t>
            </a:r>
            <a:endParaRPr/>
          </a:p>
        </p:txBody>
      </p:sp>
      <p:sp>
        <p:nvSpPr>
          <p:cNvPr id="269" name="Google Shape;269;p20"/>
          <p:cNvSpPr txBox="1"/>
          <p:nvPr/>
        </p:nvSpPr>
        <p:spPr>
          <a:xfrm>
            <a:off x="904875" y="2174527"/>
            <a:ext cx="313367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1223F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TECH &amp; FINTECH</a:t>
            </a:r>
            <a:endParaRPr/>
          </a:p>
        </p:txBody>
      </p:sp>
      <p:sp>
        <p:nvSpPr>
          <p:cNvPr id="270" name="Google Shape;270;p20"/>
          <p:cNvSpPr txBox="1"/>
          <p:nvPr/>
        </p:nvSpPr>
        <p:spPr>
          <a:xfrm>
            <a:off x="904875" y="2546002"/>
            <a:ext cx="2984450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Enterprise SaaS, payments infrastructure, cybersecurity, and advanced software ecosystems seeking capital rounds.</a:t>
            </a:r>
            <a:endParaRPr/>
          </a:p>
        </p:txBody>
      </p:sp>
      <p:sp>
        <p:nvSpPr>
          <p:cNvPr id="271" name="Google Shape;271;p20"/>
          <p:cNvSpPr txBox="1"/>
          <p:nvPr/>
        </p:nvSpPr>
        <p:spPr>
          <a:xfrm>
            <a:off x="4603700" y="1860202"/>
            <a:ext cx="2984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88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25% MARKET DEPTH</a:t>
            </a:r>
            <a:endParaRPr/>
          </a:p>
        </p:txBody>
      </p:sp>
      <p:sp>
        <p:nvSpPr>
          <p:cNvPr id="272" name="Google Shape;272;p20"/>
          <p:cNvSpPr txBox="1"/>
          <p:nvPr/>
        </p:nvSpPr>
        <p:spPr>
          <a:xfrm>
            <a:off x="4603700" y="2174527"/>
            <a:ext cx="313367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1223F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INDUSTRIALS &amp; MFG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4603700" y="2546002"/>
            <a:ext cx="29844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Aerospace components, precision engineering systems, advanced automotive parts, and </a:t>
            </a:r>
            <a:r>
              <a:rPr lang="en-US" sz="1087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speciality</a:t>
            </a:r>
            <a:r>
              <a:rPr b="0" i="0" lang="en-US" sz="1087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chemicals.</a:t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8302525" y="1860202"/>
            <a:ext cx="298459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88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15% MARKET DEPTH</a:t>
            </a:r>
            <a:endParaRPr/>
          </a:p>
        </p:txBody>
      </p:sp>
      <p:sp>
        <p:nvSpPr>
          <p:cNvPr id="275" name="Google Shape;275;p20"/>
          <p:cNvSpPr txBox="1"/>
          <p:nvPr/>
        </p:nvSpPr>
        <p:spPr>
          <a:xfrm>
            <a:off x="8302525" y="2174527"/>
            <a:ext cx="313382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1223F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CONSUMER &amp; RETAIL</a:t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8302525" y="2546002"/>
            <a:ext cx="2984599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Omnichannel premium brands, e-commerce platforms, food &amp; beverage chains, and consumer network setups.</a:t>
            </a: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904875" y="4349650"/>
            <a:ext cx="2984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88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12% MARKET DEPTH</a:t>
            </a:r>
            <a:endParaRPr/>
          </a:p>
        </p:txBody>
      </p:sp>
      <p:sp>
        <p:nvSpPr>
          <p:cNvPr id="278" name="Google Shape;278;p20"/>
          <p:cNvSpPr txBox="1"/>
          <p:nvPr/>
        </p:nvSpPr>
        <p:spPr>
          <a:xfrm>
            <a:off x="904875" y="4663975"/>
            <a:ext cx="313367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1223F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HEALTHCARE</a:t>
            </a:r>
            <a:endParaRPr/>
          </a:p>
        </p:txBody>
      </p:sp>
      <p:sp>
        <p:nvSpPr>
          <p:cNvPr id="279" name="Google Shape;279;p20"/>
          <p:cNvSpPr txBox="1"/>
          <p:nvPr/>
        </p:nvSpPr>
        <p:spPr>
          <a:xfrm>
            <a:off x="904875" y="5035450"/>
            <a:ext cx="2984450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Medical devices, tech-enabled clinical setups, specialized diagnostic networks, and digital healthcare platforms.</a:t>
            </a:r>
            <a:endParaRPr/>
          </a:p>
        </p:txBody>
      </p:sp>
      <p:sp>
        <p:nvSpPr>
          <p:cNvPr id="280" name="Google Shape;280;p20"/>
          <p:cNvSpPr txBox="1"/>
          <p:nvPr/>
        </p:nvSpPr>
        <p:spPr>
          <a:xfrm>
            <a:off x="4603700" y="4349650"/>
            <a:ext cx="2984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88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10% MARKET DEPTH</a:t>
            </a:r>
            <a:endParaRPr/>
          </a:p>
        </p:txBody>
      </p:sp>
      <p:sp>
        <p:nvSpPr>
          <p:cNvPr id="281" name="Google Shape;281;p20"/>
          <p:cNvSpPr txBox="1"/>
          <p:nvPr/>
        </p:nvSpPr>
        <p:spPr>
          <a:xfrm>
            <a:off x="4603700" y="4663975"/>
            <a:ext cx="313367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1223F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ENERGY &amp; RESOURCES</a:t>
            </a:r>
            <a:endParaRPr/>
          </a:p>
        </p:txBody>
      </p:sp>
      <p:sp>
        <p:nvSpPr>
          <p:cNvPr id="282" name="Google Shape;282;p20"/>
          <p:cNvSpPr txBox="1"/>
          <p:nvPr/>
        </p:nvSpPr>
        <p:spPr>
          <a:xfrm>
            <a:off x="4603700" y="5035450"/>
            <a:ext cx="2984450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Solar arrays, infrastructure projects, traditional utilities, and renewable transition syndicates.</a:t>
            </a:r>
            <a:endParaRPr/>
          </a:p>
        </p:txBody>
      </p:sp>
      <p:sp>
        <p:nvSpPr>
          <p:cNvPr id="283" name="Google Shape;283;p20"/>
          <p:cNvSpPr txBox="1"/>
          <p:nvPr/>
        </p:nvSpPr>
        <p:spPr>
          <a:xfrm>
            <a:off x="8302525" y="4349650"/>
            <a:ext cx="298459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88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8% MARKET DEPTH</a:t>
            </a:r>
            <a:endParaRPr/>
          </a:p>
        </p:txBody>
      </p:sp>
      <p:sp>
        <p:nvSpPr>
          <p:cNvPr id="284" name="Google Shape;284;p20"/>
          <p:cNvSpPr txBox="1"/>
          <p:nvPr/>
        </p:nvSpPr>
        <p:spPr>
          <a:xfrm>
            <a:off x="8302525" y="4663975"/>
            <a:ext cx="313382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1223F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REAL ESTATE &amp; PROPTECH</a:t>
            </a:r>
            <a:endParaRPr/>
          </a:p>
        </p:txBody>
      </p:sp>
      <p:sp>
        <p:nvSpPr>
          <p:cNvPr id="285" name="Google Shape;285;p20"/>
          <p:cNvSpPr txBox="1"/>
          <p:nvPr/>
        </p:nvSpPr>
        <p:spPr>
          <a:xfrm>
            <a:off x="8302525" y="5035450"/>
            <a:ext cx="2984599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Logistics spaces, commercial properties, hotel developments, and property technology software setups.</a:t>
            </a:r>
            <a:endParaRPr/>
          </a:p>
        </p:txBody>
      </p:sp>
      <p:sp>
        <p:nvSpPr>
          <p:cNvPr id="286" name="Google Shape;286;p20"/>
          <p:cNvSpPr txBox="1"/>
          <p:nvPr/>
        </p:nvSpPr>
        <p:spPr>
          <a:xfrm>
            <a:off x="666750" y="476250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88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07 / INDUSTRY FOCUS</a:t>
            </a:r>
            <a:endParaRPr/>
          </a:p>
        </p:txBody>
      </p:sp>
      <p:sp>
        <p:nvSpPr>
          <p:cNvPr id="287" name="Google Shape;287;p20"/>
          <p:cNvSpPr txBox="1"/>
          <p:nvPr/>
        </p:nvSpPr>
        <p:spPr>
          <a:xfrm>
            <a:off x="666750" y="771525"/>
            <a:ext cx="11401425" cy="4790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1223F"/>
                </a:solidFill>
                <a:latin typeface="Oswald"/>
                <a:ea typeface="Oswald"/>
                <a:cs typeface="Oswald"/>
                <a:sym typeface="Oswald"/>
              </a:rPr>
              <a:t>GLOBAL SECTOR </a:t>
            </a:r>
            <a:r>
              <a:rPr b="0" i="0" lang="en-US" sz="3150" u="none" cap="none" strike="noStrike">
                <a:solidFill>
                  <a:srgbClr val="C5A880"/>
                </a:solidFill>
                <a:latin typeface="Oswald Medium"/>
                <a:ea typeface="Oswald Medium"/>
                <a:cs typeface="Oswald Medium"/>
                <a:sym typeface="Oswald Medium"/>
              </a:rPr>
              <a:t>COVERAGE</a:t>
            </a:r>
            <a:endParaRPr/>
          </a:p>
        </p:txBody>
      </p:sp>
      <p:sp>
        <p:nvSpPr>
          <p:cNvPr id="288" name="Google Shape;288;p20"/>
          <p:cNvSpPr/>
          <p:nvPr/>
        </p:nvSpPr>
        <p:spPr>
          <a:xfrm>
            <a:off x="666750" y="1288702"/>
            <a:ext cx="10858500" cy="19050"/>
          </a:xfrm>
          <a:prstGeom prst="rect">
            <a:avLst/>
          </a:prstGeom>
          <a:solidFill>
            <a:srgbClr val="1122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0"/>
          <p:cNvSpPr/>
          <p:nvPr/>
        </p:nvSpPr>
        <p:spPr>
          <a:xfrm>
            <a:off x="666750" y="676275"/>
            <a:ext cx="952500" cy="9525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4" name="Google Shape;29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349550"/>
            <a:ext cx="2049660" cy="2731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68810" y="2349550"/>
            <a:ext cx="2049809" cy="2731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71020" y="2349550"/>
            <a:ext cx="2049809" cy="2731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73230" y="2349550"/>
            <a:ext cx="2049809" cy="2731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75440" y="2349550"/>
            <a:ext cx="2049660" cy="2731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829925" y="966341"/>
            <a:ext cx="695325" cy="265211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1"/>
          <p:cNvSpPr txBox="1"/>
          <p:nvPr/>
        </p:nvSpPr>
        <p:spPr>
          <a:xfrm>
            <a:off x="666750" y="1593502"/>
            <a:ext cx="952500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Blending the comprehensive analytical depth of tier-one banks with the dedicated focus of an elite corporate advisory boutique.</a:t>
            </a:r>
            <a:endParaRPr/>
          </a:p>
        </p:txBody>
      </p:sp>
      <p:sp>
        <p:nvSpPr>
          <p:cNvPr id="302" name="Google Shape;302;p21"/>
          <p:cNvSpPr txBox="1"/>
          <p:nvPr/>
        </p:nvSpPr>
        <p:spPr>
          <a:xfrm>
            <a:off x="904875" y="2616249"/>
            <a:ext cx="157341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88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STEP 01</a:t>
            </a:r>
            <a:endParaRPr/>
          </a:p>
        </p:txBody>
      </p:sp>
      <p:sp>
        <p:nvSpPr>
          <p:cNvPr id="303" name="Google Shape;303;p21"/>
          <p:cNvSpPr txBox="1"/>
          <p:nvPr/>
        </p:nvSpPr>
        <p:spPr>
          <a:xfrm>
            <a:off x="904875" y="2930574"/>
            <a:ext cx="165208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1223F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SENIOR-LED FOCUS</a:t>
            </a:r>
            <a:endParaRPr/>
          </a:p>
        </p:txBody>
      </p:sp>
      <p:sp>
        <p:nvSpPr>
          <p:cNvPr id="304" name="Google Shape;304;p21"/>
          <p:cNvSpPr txBox="1"/>
          <p:nvPr/>
        </p:nvSpPr>
        <p:spPr>
          <a:xfrm>
            <a:off x="904875" y="3235374"/>
            <a:ext cx="15735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Direct operational management from highly experienced </a:t>
            </a:r>
            <a:r>
              <a:rPr lang="en-US" sz="9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directors</a:t>
            </a: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on every transaction.</a:t>
            </a:r>
            <a:endParaRPr/>
          </a:p>
        </p:txBody>
      </p:sp>
      <p:sp>
        <p:nvSpPr>
          <p:cNvPr id="305" name="Google Shape;305;p21"/>
          <p:cNvSpPr txBox="1"/>
          <p:nvPr/>
        </p:nvSpPr>
        <p:spPr>
          <a:xfrm>
            <a:off x="3106935" y="2616249"/>
            <a:ext cx="157355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88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STEP 02</a:t>
            </a:r>
            <a:endParaRPr/>
          </a:p>
        </p:txBody>
      </p:sp>
      <p:sp>
        <p:nvSpPr>
          <p:cNvPr id="306" name="Google Shape;306;p21"/>
          <p:cNvSpPr txBox="1"/>
          <p:nvPr/>
        </p:nvSpPr>
        <p:spPr>
          <a:xfrm>
            <a:off x="3106935" y="2930574"/>
            <a:ext cx="16522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1223F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INSTITUTIONAL GRADE</a:t>
            </a:r>
            <a:endParaRPr/>
          </a:p>
        </p:txBody>
      </p:sp>
      <p:sp>
        <p:nvSpPr>
          <p:cNvPr id="307" name="Google Shape;307;p21"/>
          <p:cNvSpPr txBox="1"/>
          <p:nvPr/>
        </p:nvSpPr>
        <p:spPr>
          <a:xfrm>
            <a:off x="3106935" y="3235374"/>
            <a:ext cx="1573559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Impeccable quality controls and structured finance models designed to clear regulatory audits.</a:t>
            </a:r>
            <a:endParaRPr/>
          </a:p>
        </p:txBody>
      </p:sp>
      <p:sp>
        <p:nvSpPr>
          <p:cNvPr id="308" name="Google Shape;308;p21"/>
          <p:cNvSpPr txBox="1"/>
          <p:nvPr/>
        </p:nvSpPr>
        <p:spPr>
          <a:xfrm>
            <a:off x="5309145" y="2616249"/>
            <a:ext cx="157355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88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STEP 03</a:t>
            </a:r>
            <a:endParaRPr/>
          </a:p>
        </p:txBody>
      </p:sp>
      <p:sp>
        <p:nvSpPr>
          <p:cNvPr id="309" name="Google Shape;309;p21"/>
          <p:cNvSpPr txBox="1"/>
          <p:nvPr/>
        </p:nvSpPr>
        <p:spPr>
          <a:xfrm>
            <a:off x="5309145" y="2930574"/>
            <a:ext cx="16522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1223F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DOMAIN EXPERTISE</a:t>
            </a:r>
            <a:endParaRPr/>
          </a:p>
        </p:txBody>
      </p:sp>
      <p:sp>
        <p:nvSpPr>
          <p:cNvPr id="310" name="Google Shape;310;p21"/>
          <p:cNvSpPr txBox="1"/>
          <p:nvPr/>
        </p:nvSpPr>
        <p:spPr>
          <a:xfrm>
            <a:off x="5309145" y="3235374"/>
            <a:ext cx="1573559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Decades of combined corporate transaction experience with global capital corridors.</a:t>
            </a:r>
            <a:endParaRPr/>
          </a:p>
        </p:txBody>
      </p:sp>
      <p:sp>
        <p:nvSpPr>
          <p:cNvPr id="311" name="Google Shape;311;p21"/>
          <p:cNvSpPr txBox="1"/>
          <p:nvPr/>
        </p:nvSpPr>
        <p:spPr>
          <a:xfrm>
            <a:off x="7511355" y="2616249"/>
            <a:ext cx="157355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88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STEP 04</a:t>
            </a:r>
            <a:endParaRPr/>
          </a:p>
        </p:txBody>
      </p:sp>
      <p:sp>
        <p:nvSpPr>
          <p:cNvPr id="312" name="Google Shape;312;p21"/>
          <p:cNvSpPr txBox="1"/>
          <p:nvPr/>
        </p:nvSpPr>
        <p:spPr>
          <a:xfrm>
            <a:off x="7511355" y="2930574"/>
            <a:ext cx="16522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1223F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GLOBAL PLACEMENT</a:t>
            </a:r>
            <a:endParaRPr/>
          </a:p>
        </p:txBody>
      </p:sp>
      <p:sp>
        <p:nvSpPr>
          <p:cNvPr id="313" name="Google Shape;313;p21"/>
          <p:cNvSpPr txBox="1"/>
          <p:nvPr/>
        </p:nvSpPr>
        <p:spPr>
          <a:xfrm>
            <a:off x="7511355" y="3235374"/>
            <a:ext cx="1573559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Vast network linking strategic partners across major offshore investment corridors.</a:t>
            </a:r>
            <a:endParaRPr/>
          </a:p>
        </p:txBody>
      </p:sp>
      <p:sp>
        <p:nvSpPr>
          <p:cNvPr id="314" name="Google Shape;314;p21"/>
          <p:cNvSpPr txBox="1"/>
          <p:nvPr/>
        </p:nvSpPr>
        <p:spPr>
          <a:xfrm>
            <a:off x="9713565" y="2616249"/>
            <a:ext cx="157341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88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STEP 05</a:t>
            </a:r>
            <a:endParaRPr/>
          </a:p>
        </p:txBody>
      </p:sp>
      <p:sp>
        <p:nvSpPr>
          <p:cNvPr id="315" name="Google Shape;315;p21"/>
          <p:cNvSpPr txBox="1"/>
          <p:nvPr/>
        </p:nvSpPr>
        <p:spPr>
          <a:xfrm>
            <a:off x="9713565" y="2930574"/>
            <a:ext cx="165208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1223F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RESULT ORIENTATION</a:t>
            </a:r>
            <a:endParaRPr/>
          </a:p>
        </p:txBody>
      </p:sp>
      <p:sp>
        <p:nvSpPr>
          <p:cNvPr id="316" name="Google Shape;316;p21"/>
          <p:cNvSpPr txBox="1"/>
          <p:nvPr/>
        </p:nvSpPr>
        <p:spPr>
          <a:xfrm>
            <a:off x="9713565" y="3235374"/>
            <a:ext cx="1573410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Committed to robust advisory execution and absolute final deal closing.</a:t>
            </a:r>
            <a:endParaRPr/>
          </a:p>
        </p:txBody>
      </p:sp>
      <p:sp>
        <p:nvSpPr>
          <p:cNvPr id="317" name="Google Shape;317;p21"/>
          <p:cNvSpPr txBox="1"/>
          <p:nvPr/>
        </p:nvSpPr>
        <p:spPr>
          <a:xfrm>
            <a:off x="666750" y="476250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88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08 / CORE COMMITMENT</a:t>
            </a:r>
            <a:endParaRPr/>
          </a:p>
        </p:txBody>
      </p:sp>
      <p:sp>
        <p:nvSpPr>
          <p:cNvPr id="318" name="Google Shape;318;p21"/>
          <p:cNvSpPr txBox="1"/>
          <p:nvPr/>
        </p:nvSpPr>
        <p:spPr>
          <a:xfrm>
            <a:off x="666750" y="771525"/>
            <a:ext cx="11401425" cy="4790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1223F"/>
                </a:solidFill>
                <a:latin typeface="Oswald"/>
                <a:ea typeface="Oswald"/>
                <a:cs typeface="Oswald"/>
                <a:sym typeface="Oswald"/>
              </a:rPr>
              <a:t>COMMITMENT TO </a:t>
            </a:r>
            <a:r>
              <a:rPr b="0" i="0" lang="en-US" sz="3150" u="none" cap="none" strike="noStrike">
                <a:solidFill>
                  <a:srgbClr val="C5A880"/>
                </a:solidFill>
                <a:latin typeface="Oswald Medium"/>
                <a:ea typeface="Oswald Medium"/>
                <a:cs typeface="Oswald Medium"/>
                <a:sym typeface="Oswald Medium"/>
              </a:rPr>
              <a:t>EXCELLENCE</a:t>
            </a:r>
            <a:endParaRPr/>
          </a:p>
        </p:txBody>
      </p:sp>
      <p:sp>
        <p:nvSpPr>
          <p:cNvPr id="319" name="Google Shape;319;p21"/>
          <p:cNvSpPr/>
          <p:nvPr/>
        </p:nvSpPr>
        <p:spPr>
          <a:xfrm>
            <a:off x="666750" y="1288702"/>
            <a:ext cx="10858500" cy="19050"/>
          </a:xfrm>
          <a:prstGeom prst="rect">
            <a:avLst/>
          </a:prstGeom>
          <a:solidFill>
            <a:srgbClr val="1122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666750" y="676275"/>
            <a:ext cx="952500" cy="9525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5" name="Google Shape;3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6" name="Google Shape;326;p22"/>
          <p:cNvGrpSpPr/>
          <p:nvPr/>
        </p:nvGrpSpPr>
        <p:grpSpPr>
          <a:xfrm>
            <a:off x="666750" y="1571625"/>
            <a:ext cx="5105400" cy="2476500"/>
            <a:chOff x="666750" y="1571625"/>
            <a:chExt cx="5105400" cy="2476500"/>
          </a:xfrm>
        </p:grpSpPr>
        <p:sp>
          <p:nvSpPr>
            <p:cNvPr id="327" name="Google Shape;327;p22"/>
            <p:cNvSpPr/>
            <p:nvPr/>
          </p:nvSpPr>
          <p:spPr>
            <a:xfrm>
              <a:off x="666750" y="1571625"/>
              <a:ext cx="5105400" cy="24765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2"/>
            <p:cNvSpPr/>
            <p:nvPr/>
          </p:nvSpPr>
          <p:spPr>
            <a:xfrm>
              <a:off x="666750" y="1571625"/>
              <a:ext cx="5105400" cy="57300"/>
            </a:xfrm>
            <a:prstGeom prst="roundRect">
              <a:avLst>
                <a:gd fmla="val 50000" name="adj"/>
              </a:avLst>
            </a:prstGeom>
            <a:solidFill>
              <a:srgbClr val="1122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2"/>
            <p:cNvSpPr txBox="1"/>
            <p:nvPr/>
          </p:nvSpPr>
          <p:spPr>
            <a:xfrm>
              <a:off x="904875" y="1762125"/>
              <a:ext cx="4629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C5A88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handshake </a:t>
              </a:r>
              <a:r>
                <a:rPr b="0" lang="en-US" sz="1500">
                  <a:solidFill>
                    <a:srgbClr val="11223F"/>
                  </a:solidFill>
                  <a:latin typeface="Oswald SemiBold"/>
                  <a:ea typeface="Oswald SemiBold"/>
                  <a:cs typeface="Oswald SemiBold"/>
                  <a:sym typeface="Oswald SemiBold"/>
                </a:rPr>
                <a:t>STRATEGIC CHANNELS</a:t>
              </a:r>
              <a:endParaRPr b="0" sz="1500">
                <a:solidFill>
                  <a:srgbClr val="11223F"/>
                </a:solidFill>
                <a:latin typeface="Oswald SemiBold"/>
                <a:ea typeface="Oswald SemiBold"/>
                <a:cs typeface="Oswald SemiBold"/>
                <a:sym typeface="Oswald SemiBold"/>
              </a:endParaRPr>
            </a:p>
          </p:txBody>
        </p:sp>
        <p:sp>
          <p:nvSpPr>
            <p:cNvPr id="330" name="Google Shape;330;p22"/>
            <p:cNvSpPr txBox="1"/>
            <p:nvPr/>
          </p:nvSpPr>
          <p:spPr>
            <a:xfrm>
              <a:off x="904875" y="2190750"/>
              <a:ext cx="46293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11223F"/>
                  </a:solidFill>
                  <a:latin typeface="Inter"/>
                  <a:ea typeface="Inter"/>
                  <a:cs typeface="Inter"/>
                  <a:sym typeface="Inter"/>
                </a:rPr>
                <a:t>▪ BRICS Chamber:</a:t>
              </a:r>
              <a:r>
                <a:rPr lang="en-US" sz="10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Official chamber alignment to accelerate capital flow pathways.</a:t>
              </a:r>
              <a:endParaRPr sz="10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11223F"/>
                  </a:solidFill>
                  <a:latin typeface="Inter"/>
                  <a:ea typeface="Inter"/>
                  <a:cs typeface="Inter"/>
                  <a:sym typeface="Inter"/>
                </a:rPr>
                <a:t>▪ UK Department of Trade:</a:t>
              </a:r>
              <a:r>
                <a:rPr lang="en-US" sz="10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Active corridor support with deputy high commissions.</a:t>
              </a:r>
              <a:endParaRPr sz="10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11223F"/>
                  </a:solidFill>
                  <a:latin typeface="Inter"/>
                  <a:ea typeface="Inter"/>
                  <a:cs typeface="Inter"/>
                  <a:sym typeface="Inter"/>
                </a:rPr>
                <a:t>▪ Embassy Networks:</a:t>
              </a:r>
              <a:r>
                <a:rPr lang="en-US" sz="10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Structural transaction pathways across key sovereign business hubs.</a:t>
              </a:r>
              <a:endParaRPr sz="10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31" name="Google Shape;331;p22"/>
          <p:cNvGrpSpPr/>
          <p:nvPr/>
        </p:nvGrpSpPr>
        <p:grpSpPr>
          <a:xfrm>
            <a:off x="6419850" y="1571625"/>
            <a:ext cx="5105400" cy="2476500"/>
            <a:chOff x="6419850" y="1571625"/>
            <a:chExt cx="5105400" cy="2476500"/>
          </a:xfrm>
        </p:grpSpPr>
        <p:sp>
          <p:nvSpPr>
            <p:cNvPr id="332" name="Google Shape;332;p22"/>
            <p:cNvSpPr/>
            <p:nvPr/>
          </p:nvSpPr>
          <p:spPr>
            <a:xfrm>
              <a:off x="6419850" y="1571625"/>
              <a:ext cx="5105400" cy="24765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2"/>
            <p:cNvSpPr/>
            <p:nvPr/>
          </p:nvSpPr>
          <p:spPr>
            <a:xfrm>
              <a:off x="6419850" y="1571625"/>
              <a:ext cx="5105400" cy="57300"/>
            </a:xfrm>
            <a:prstGeom prst="roundRect">
              <a:avLst>
                <a:gd fmla="val 50000" name="adj"/>
              </a:avLst>
            </a:prstGeom>
            <a:solidFill>
              <a:srgbClr val="1122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2"/>
            <p:cNvSpPr txBox="1"/>
            <p:nvPr/>
          </p:nvSpPr>
          <p:spPr>
            <a:xfrm>
              <a:off x="6657975" y="1762125"/>
              <a:ext cx="4629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C5A88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public </a:t>
              </a:r>
              <a:r>
                <a:rPr b="0" lang="en-US" sz="1500">
                  <a:solidFill>
                    <a:srgbClr val="11223F"/>
                  </a:solidFill>
                  <a:latin typeface="Oswald SemiBold"/>
                  <a:ea typeface="Oswald SemiBold"/>
                  <a:cs typeface="Oswald SemiBold"/>
                  <a:sym typeface="Oswald SemiBold"/>
                </a:rPr>
                <a:t>SERVING KEY MARKETS</a:t>
              </a:r>
              <a:endParaRPr b="0" sz="1500">
                <a:solidFill>
                  <a:srgbClr val="11223F"/>
                </a:solidFill>
                <a:latin typeface="Oswald SemiBold"/>
                <a:ea typeface="Oswald SemiBold"/>
                <a:cs typeface="Oswald SemiBold"/>
                <a:sym typeface="Oswald SemiBold"/>
              </a:endParaRPr>
            </a:p>
          </p:txBody>
        </p:sp>
        <p:sp>
          <p:nvSpPr>
            <p:cNvPr id="335" name="Google Shape;335;p22"/>
            <p:cNvSpPr txBox="1"/>
            <p:nvPr/>
          </p:nvSpPr>
          <p:spPr>
            <a:xfrm>
              <a:off x="6657975" y="2143125"/>
              <a:ext cx="46293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Active international corridors outside mainland India:</a:t>
              </a:r>
              <a:endParaRPr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36" name="Google Shape;336;p22"/>
            <p:cNvGrpSpPr/>
            <p:nvPr/>
          </p:nvGrpSpPr>
          <p:grpSpPr>
            <a:xfrm>
              <a:off x="6657975" y="2476500"/>
              <a:ext cx="4515000" cy="914550"/>
              <a:chOff x="0" y="0"/>
              <a:chExt cx="4515000" cy="914550"/>
            </a:xfrm>
          </p:grpSpPr>
          <p:sp>
            <p:nvSpPr>
              <p:cNvPr id="337" name="Google Shape;337;p22"/>
              <p:cNvSpPr/>
              <p:nvPr/>
            </p:nvSpPr>
            <p:spPr>
              <a:xfrm>
                <a:off x="0" y="0"/>
                <a:ext cx="14289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22"/>
              <p:cNvSpPr txBox="1"/>
              <p:nvPr/>
            </p:nvSpPr>
            <p:spPr>
              <a:xfrm>
                <a:off x="0" y="0"/>
                <a:ext cx="14289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C5A880"/>
                    </a:solidFill>
                    <a:latin typeface="Inter"/>
                    <a:ea typeface="Inter"/>
                    <a:cs typeface="Inter"/>
                    <a:sym typeface="Inter"/>
                  </a:rPr>
                  <a:t>●</a:t>
                </a:r>
                <a:r>
                  <a:rPr b="1" lang="en-US" sz="1100">
                    <a:solidFill>
                      <a:srgbClr val="11223F"/>
                    </a:solidFill>
                    <a:latin typeface="Inter"/>
                    <a:ea typeface="Inter"/>
                    <a:cs typeface="Inter"/>
                    <a:sym typeface="Inter"/>
                  </a:rPr>
                  <a:t>USA</a:t>
                </a:r>
                <a:endParaRPr b="1" sz="1100">
                  <a:solidFill>
                    <a:srgbClr val="11223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9" name="Google Shape;339;p22"/>
              <p:cNvSpPr/>
              <p:nvPr/>
            </p:nvSpPr>
            <p:spPr>
              <a:xfrm>
                <a:off x="1543050" y="0"/>
                <a:ext cx="14289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22"/>
              <p:cNvSpPr txBox="1"/>
              <p:nvPr/>
            </p:nvSpPr>
            <p:spPr>
              <a:xfrm>
                <a:off x="1543050" y="0"/>
                <a:ext cx="14289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C5A880"/>
                    </a:solidFill>
                    <a:latin typeface="Inter"/>
                    <a:ea typeface="Inter"/>
                    <a:cs typeface="Inter"/>
                    <a:sym typeface="Inter"/>
                  </a:rPr>
                  <a:t>●</a:t>
                </a:r>
                <a:r>
                  <a:rPr b="1" lang="en-US" sz="1100">
                    <a:solidFill>
                      <a:srgbClr val="11223F"/>
                    </a:solidFill>
                    <a:latin typeface="Inter"/>
                    <a:ea typeface="Inter"/>
                    <a:cs typeface="Inter"/>
                    <a:sym typeface="Inter"/>
                  </a:rPr>
                  <a:t>UAE</a:t>
                </a:r>
                <a:endParaRPr b="1" sz="1100">
                  <a:solidFill>
                    <a:srgbClr val="11223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1" name="Google Shape;341;p22"/>
              <p:cNvSpPr/>
              <p:nvPr/>
            </p:nvSpPr>
            <p:spPr>
              <a:xfrm>
                <a:off x="3086100" y="0"/>
                <a:ext cx="14289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22"/>
              <p:cNvSpPr txBox="1"/>
              <p:nvPr/>
            </p:nvSpPr>
            <p:spPr>
              <a:xfrm>
                <a:off x="3086100" y="0"/>
                <a:ext cx="14289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C5A880"/>
                    </a:solidFill>
                    <a:latin typeface="Inter"/>
                    <a:ea typeface="Inter"/>
                    <a:cs typeface="Inter"/>
                    <a:sym typeface="Inter"/>
                  </a:rPr>
                  <a:t>●</a:t>
                </a:r>
                <a:r>
                  <a:rPr b="1" lang="en-US" sz="1100">
                    <a:solidFill>
                      <a:srgbClr val="11223F"/>
                    </a:solidFill>
                    <a:latin typeface="Inter"/>
                    <a:ea typeface="Inter"/>
                    <a:cs typeface="Inter"/>
                    <a:sym typeface="Inter"/>
                  </a:rPr>
                  <a:t>UK</a:t>
                </a:r>
                <a:endParaRPr b="1" sz="1100">
                  <a:solidFill>
                    <a:srgbClr val="11223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3" name="Google Shape;343;p22"/>
              <p:cNvSpPr/>
              <p:nvPr/>
            </p:nvSpPr>
            <p:spPr>
              <a:xfrm>
                <a:off x="0" y="514350"/>
                <a:ext cx="14289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22"/>
              <p:cNvSpPr txBox="1"/>
              <p:nvPr/>
            </p:nvSpPr>
            <p:spPr>
              <a:xfrm>
                <a:off x="0" y="514350"/>
                <a:ext cx="14289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C5A880"/>
                    </a:solidFill>
                    <a:latin typeface="Inter"/>
                    <a:ea typeface="Inter"/>
                    <a:cs typeface="Inter"/>
                    <a:sym typeface="Inter"/>
                  </a:rPr>
                  <a:t>●</a:t>
                </a:r>
                <a:r>
                  <a:rPr b="1" lang="en-US" sz="1100">
                    <a:solidFill>
                      <a:srgbClr val="11223F"/>
                    </a:solidFill>
                    <a:latin typeface="Inter"/>
                    <a:ea typeface="Inter"/>
                    <a:cs typeface="Inter"/>
                    <a:sym typeface="Inter"/>
                  </a:rPr>
                  <a:t>France</a:t>
                </a:r>
                <a:endParaRPr b="1" sz="1100">
                  <a:solidFill>
                    <a:srgbClr val="11223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5" name="Google Shape;345;p22"/>
              <p:cNvSpPr/>
              <p:nvPr/>
            </p:nvSpPr>
            <p:spPr>
              <a:xfrm>
                <a:off x="1543050" y="514350"/>
                <a:ext cx="14289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22"/>
              <p:cNvSpPr txBox="1"/>
              <p:nvPr/>
            </p:nvSpPr>
            <p:spPr>
              <a:xfrm>
                <a:off x="1543050" y="514350"/>
                <a:ext cx="14289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C5A880"/>
                    </a:solidFill>
                    <a:latin typeface="Inter"/>
                    <a:ea typeface="Inter"/>
                    <a:cs typeface="Inter"/>
                    <a:sym typeface="Inter"/>
                  </a:rPr>
                  <a:t>●</a:t>
                </a:r>
                <a:r>
                  <a:rPr b="1" lang="en-US" sz="1100">
                    <a:solidFill>
                      <a:srgbClr val="11223F"/>
                    </a:solidFill>
                    <a:latin typeface="Inter"/>
                    <a:ea typeface="Inter"/>
                    <a:cs typeface="Inter"/>
                    <a:sym typeface="Inter"/>
                  </a:rPr>
                  <a:t>Switzerland</a:t>
                </a:r>
                <a:endParaRPr b="1" sz="1100">
                  <a:solidFill>
                    <a:srgbClr val="11223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7" name="Google Shape;347;p22"/>
              <p:cNvSpPr/>
              <p:nvPr/>
            </p:nvSpPr>
            <p:spPr>
              <a:xfrm>
                <a:off x="3086100" y="514350"/>
                <a:ext cx="14289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22"/>
              <p:cNvSpPr txBox="1"/>
              <p:nvPr/>
            </p:nvSpPr>
            <p:spPr>
              <a:xfrm>
                <a:off x="3086100" y="514350"/>
                <a:ext cx="14289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C5A880"/>
                    </a:solidFill>
                    <a:latin typeface="Inter"/>
                    <a:ea typeface="Inter"/>
                    <a:cs typeface="Inter"/>
                    <a:sym typeface="Inter"/>
                  </a:rPr>
                  <a:t>●</a:t>
                </a:r>
                <a:r>
                  <a:rPr b="1" lang="en-US" sz="1100">
                    <a:solidFill>
                      <a:srgbClr val="11223F"/>
                    </a:solidFill>
                    <a:latin typeface="Inter"/>
                    <a:ea typeface="Inter"/>
                    <a:cs typeface="Inter"/>
                    <a:sym typeface="Inter"/>
                  </a:rPr>
                  <a:t>Saudi Arabia</a:t>
                </a:r>
                <a:endParaRPr b="1" sz="1100">
                  <a:solidFill>
                    <a:srgbClr val="11223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49" name="Google Shape;349;p22"/>
          <p:cNvGrpSpPr/>
          <p:nvPr/>
        </p:nvGrpSpPr>
        <p:grpSpPr>
          <a:xfrm>
            <a:off x="666750" y="4186781"/>
            <a:ext cx="10858500" cy="2025075"/>
            <a:chOff x="666750" y="4286250"/>
            <a:chExt cx="10858500" cy="2025075"/>
          </a:xfrm>
        </p:grpSpPr>
        <p:sp>
          <p:nvSpPr>
            <p:cNvPr id="350" name="Google Shape;350;p22"/>
            <p:cNvSpPr/>
            <p:nvPr/>
          </p:nvSpPr>
          <p:spPr>
            <a:xfrm>
              <a:off x="666750" y="4286253"/>
              <a:ext cx="10287000" cy="20250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2"/>
            <p:cNvSpPr/>
            <p:nvPr/>
          </p:nvSpPr>
          <p:spPr>
            <a:xfrm>
              <a:off x="666750" y="4286250"/>
              <a:ext cx="10858500" cy="57300"/>
            </a:xfrm>
            <a:prstGeom prst="roundRect">
              <a:avLst>
                <a:gd fmla="val 50000" name="adj"/>
              </a:avLst>
            </a:prstGeom>
            <a:solidFill>
              <a:srgbClr val="C5A8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2"/>
            <p:cNvSpPr txBox="1"/>
            <p:nvPr/>
          </p:nvSpPr>
          <p:spPr>
            <a:xfrm>
              <a:off x="857250" y="4476750"/>
              <a:ext cx="10477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11223F"/>
                  </a:solidFill>
                  <a:latin typeface="Oswald SemiBold"/>
                  <a:ea typeface="Oswald SemiBold"/>
                  <a:cs typeface="Oswald SemiBold"/>
                  <a:sym typeface="Oswald SemiBold"/>
                </a:rPr>
                <a:t>COUNTRIES WE ARE SERVING APART FROM INDIA</a:t>
              </a:r>
              <a:endParaRPr b="0" sz="1150">
                <a:solidFill>
                  <a:srgbClr val="11223F"/>
                </a:solidFill>
                <a:latin typeface="Oswald SemiBold"/>
                <a:ea typeface="Oswald SemiBold"/>
                <a:cs typeface="Oswald SemiBold"/>
                <a:sym typeface="Oswald SemiBold"/>
              </a:endParaRPr>
            </a:p>
          </p:txBody>
        </p:sp>
        <p:pic>
          <p:nvPicPr>
            <p:cNvPr id="353" name="Google Shape;353;p22"/>
            <p:cNvPicPr preferRelativeResize="0"/>
            <p:nvPr/>
          </p:nvPicPr>
          <p:blipFill rotWithShape="1">
            <a:blip r:embed="rId4">
              <a:alphaModFix/>
            </a:blip>
            <a:srcRect b="-9329" l="0" r="0" t="36101"/>
            <a:stretch/>
          </p:blipFill>
          <p:spPr>
            <a:xfrm>
              <a:off x="1238250" y="4810125"/>
              <a:ext cx="9715500" cy="15012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image.png" id="354" name="Google Shape;35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8025" y="966341"/>
            <a:ext cx="657225" cy="265211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2"/>
          <p:cNvSpPr txBox="1"/>
          <p:nvPr/>
        </p:nvSpPr>
        <p:spPr>
          <a:xfrm>
            <a:off x="666750" y="476250"/>
            <a:ext cx="10858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88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09 / PARTNERSHIPS</a:t>
            </a:r>
            <a:endParaRPr/>
          </a:p>
        </p:txBody>
      </p:sp>
      <p:sp>
        <p:nvSpPr>
          <p:cNvPr id="356" name="Google Shape;356;p22"/>
          <p:cNvSpPr txBox="1"/>
          <p:nvPr/>
        </p:nvSpPr>
        <p:spPr>
          <a:xfrm>
            <a:off x="666750" y="771525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1223F"/>
                </a:solidFill>
                <a:latin typeface="Oswald"/>
                <a:ea typeface="Oswald"/>
                <a:cs typeface="Oswald"/>
                <a:sym typeface="Oswald"/>
              </a:rPr>
              <a:t>GLOBAL CONNECTIVITY &amp; </a:t>
            </a:r>
            <a:r>
              <a:rPr b="0" i="0" lang="en-US" sz="3150" u="none" cap="none" strike="noStrike">
                <a:solidFill>
                  <a:srgbClr val="C5A880"/>
                </a:solidFill>
                <a:latin typeface="Oswald Medium"/>
                <a:ea typeface="Oswald Medium"/>
                <a:cs typeface="Oswald Medium"/>
                <a:sym typeface="Oswald Medium"/>
              </a:rPr>
              <a:t>CHANNELS</a:t>
            </a:r>
            <a:endParaRPr/>
          </a:p>
        </p:txBody>
      </p:sp>
      <p:sp>
        <p:nvSpPr>
          <p:cNvPr id="357" name="Google Shape;357;p22"/>
          <p:cNvSpPr/>
          <p:nvPr/>
        </p:nvSpPr>
        <p:spPr>
          <a:xfrm>
            <a:off x="666750" y="1288702"/>
            <a:ext cx="10858500" cy="19200"/>
          </a:xfrm>
          <a:prstGeom prst="rect">
            <a:avLst/>
          </a:prstGeom>
          <a:solidFill>
            <a:srgbClr val="1122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2"/>
          <p:cNvSpPr/>
          <p:nvPr/>
        </p:nvSpPr>
        <p:spPr>
          <a:xfrm>
            <a:off x="666750" y="676275"/>
            <a:ext cx="952500" cy="960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3" name="Google Shape;36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042963"/>
            <a:ext cx="10858500" cy="336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5" name="Google Shape;36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275" y="2052488"/>
            <a:ext cx="2709862" cy="16719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6" name="Google Shape;36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86137" y="2052488"/>
            <a:ext cx="2709862" cy="16719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7" name="Google Shape;36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0" y="2052488"/>
            <a:ext cx="2709862" cy="16719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8" name="Google Shape;368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05862" y="2052488"/>
            <a:ext cx="2709862" cy="16719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9" name="Google Shape;369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6275" y="3724423"/>
            <a:ext cx="2709862" cy="16719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0" name="Google Shape;370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86137" y="3724423"/>
            <a:ext cx="2709862" cy="16719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1" name="Google Shape;371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096000" y="3724423"/>
            <a:ext cx="2709862" cy="16719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2" name="Google Shape;372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805862" y="3724423"/>
            <a:ext cx="2709862" cy="16719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3" name="Google Shape;373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906125" y="966341"/>
            <a:ext cx="619125" cy="265211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3"/>
          <p:cNvSpPr txBox="1"/>
          <p:nvPr/>
        </p:nvSpPr>
        <p:spPr>
          <a:xfrm>
            <a:off x="666750" y="1593502"/>
            <a:ext cx="9525000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We bring seasoned financial capability and rigorous advisory execution, backed by a strong performance history.</a:t>
            </a:r>
            <a:endParaRPr/>
          </a:p>
        </p:txBody>
      </p:sp>
      <p:sp>
        <p:nvSpPr>
          <p:cNvPr id="375" name="Google Shape;375;p23"/>
          <p:cNvSpPr txBox="1"/>
          <p:nvPr/>
        </p:nvSpPr>
        <p:spPr>
          <a:xfrm>
            <a:off x="885825" y="2281088"/>
            <a:ext cx="228123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C5A880"/>
                </a:solidFill>
                <a:latin typeface="Oswald"/>
                <a:ea typeface="Oswald"/>
                <a:cs typeface="Oswald"/>
                <a:sym typeface="Oswald"/>
              </a:rPr>
              <a:t>110+</a:t>
            </a:r>
            <a:endParaRPr/>
          </a:p>
        </p:txBody>
      </p:sp>
      <p:sp>
        <p:nvSpPr>
          <p:cNvPr id="376" name="Google Shape;376;p23"/>
          <p:cNvSpPr txBox="1"/>
          <p:nvPr/>
        </p:nvSpPr>
        <p:spPr>
          <a:xfrm>
            <a:off x="885825" y="2738288"/>
            <a:ext cx="22812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11223F"/>
                </a:solidFill>
                <a:latin typeface="Inter"/>
                <a:ea typeface="Inter"/>
                <a:cs typeface="Inter"/>
                <a:sym typeface="Inter"/>
              </a:rPr>
              <a:t>YEARS COMBINED</a:t>
            </a:r>
            <a:endParaRPr/>
          </a:p>
        </p:txBody>
      </p:sp>
      <p:sp>
        <p:nvSpPr>
          <p:cNvPr id="377" name="Google Shape;377;p23"/>
          <p:cNvSpPr txBox="1"/>
          <p:nvPr/>
        </p:nvSpPr>
        <p:spPr>
          <a:xfrm>
            <a:off x="885825" y="2947838"/>
            <a:ext cx="2281237" cy="538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Collective domain depth across our specialized advisory team of CAs, CSs, and veteran MBAs.</a:t>
            </a:r>
            <a:endParaRPr/>
          </a:p>
        </p:txBody>
      </p:sp>
      <p:sp>
        <p:nvSpPr>
          <p:cNvPr id="378" name="Google Shape;378;p23"/>
          <p:cNvSpPr txBox="1"/>
          <p:nvPr/>
        </p:nvSpPr>
        <p:spPr>
          <a:xfrm>
            <a:off x="3595687" y="2281088"/>
            <a:ext cx="228123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C5A880"/>
                </a:solidFill>
                <a:latin typeface="Oswald"/>
                <a:ea typeface="Oswald"/>
                <a:cs typeface="Oswald"/>
                <a:sym typeface="Oswald"/>
              </a:rPr>
              <a:t>USD 277M+</a:t>
            </a:r>
            <a:endParaRPr/>
          </a:p>
        </p:txBody>
      </p:sp>
      <p:sp>
        <p:nvSpPr>
          <p:cNvPr id="379" name="Google Shape;379;p23"/>
          <p:cNvSpPr txBox="1"/>
          <p:nvPr/>
        </p:nvSpPr>
        <p:spPr>
          <a:xfrm>
            <a:off x="3595687" y="2738288"/>
            <a:ext cx="22812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11223F"/>
                </a:solidFill>
                <a:latin typeface="Inter"/>
                <a:ea typeface="Inter"/>
                <a:cs typeface="Inter"/>
                <a:sym typeface="Inter"/>
              </a:rPr>
              <a:t>FUNDS MOBILIZED</a:t>
            </a:r>
            <a:endParaRPr/>
          </a:p>
        </p:txBody>
      </p:sp>
      <p:sp>
        <p:nvSpPr>
          <p:cNvPr id="380" name="Google Shape;380;p23"/>
          <p:cNvSpPr txBox="1"/>
          <p:nvPr/>
        </p:nvSpPr>
        <p:spPr>
          <a:xfrm>
            <a:off x="3595687" y="2947838"/>
            <a:ext cx="2281237" cy="538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Successfully channelized nearly INR 2500+ Crores of cross-border institutional capital.</a:t>
            </a:r>
            <a:endParaRPr/>
          </a:p>
        </p:txBody>
      </p:sp>
      <p:sp>
        <p:nvSpPr>
          <p:cNvPr id="381" name="Google Shape;381;p23"/>
          <p:cNvSpPr txBox="1"/>
          <p:nvPr/>
        </p:nvSpPr>
        <p:spPr>
          <a:xfrm>
            <a:off x="6305550" y="2281088"/>
            <a:ext cx="228123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C5A880"/>
                </a:solidFill>
                <a:latin typeface="Oswald"/>
                <a:ea typeface="Oswald"/>
                <a:cs typeface="Oswald"/>
                <a:sym typeface="Oswald"/>
              </a:rPr>
              <a:t>135+</a:t>
            </a:r>
            <a:endParaRPr/>
          </a:p>
        </p:txBody>
      </p:sp>
      <p:sp>
        <p:nvSpPr>
          <p:cNvPr id="382" name="Google Shape;382;p23"/>
          <p:cNvSpPr txBox="1"/>
          <p:nvPr/>
        </p:nvSpPr>
        <p:spPr>
          <a:xfrm>
            <a:off x="6305550" y="2738288"/>
            <a:ext cx="22812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11223F"/>
                </a:solidFill>
                <a:latin typeface="Inter"/>
                <a:ea typeface="Inter"/>
                <a:cs typeface="Inter"/>
                <a:sym typeface="Inter"/>
              </a:rPr>
              <a:t>GLOBAL LENDERS</a:t>
            </a:r>
            <a:endParaRPr/>
          </a:p>
        </p:txBody>
      </p:sp>
      <p:sp>
        <p:nvSpPr>
          <p:cNvPr id="383" name="Google Shape;383;p23"/>
          <p:cNvSpPr txBox="1"/>
          <p:nvPr/>
        </p:nvSpPr>
        <p:spPr>
          <a:xfrm>
            <a:off x="6305550" y="2947838"/>
            <a:ext cx="2281237" cy="538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Direct connections with global Tier-1 banks, sovereign funds, and private family offices.</a:t>
            </a:r>
            <a:endParaRPr/>
          </a:p>
        </p:txBody>
      </p:sp>
      <p:sp>
        <p:nvSpPr>
          <p:cNvPr id="384" name="Google Shape;384;p23"/>
          <p:cNvSpPr txBox="1"/>
          <p:nvPr/>
        </p:nvSpPr>
        <p:spPr>
          <a:xfrm>
            <a:off x="9015412" y="2281088"/>
            <a:ext cx="22907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C5A880"/>
                </a:solidFill>
                <a:latin typeface="Oswald"/>
                <a:ea typeface="Oswald"/>
                <a:cs typeface="Oswald"/>
                <a:sym typeface="Oswald"/>
              </a:rPr>
              <a:t>150+</a:t>
            </a:r>
            <a:endParaRPr/>
          </a:p>
        </p:txBody>
      </p:sp>
      <p:sp>
        <p:nvSpPr>
          <p:cNvPr id="385" name="Google Shape;385;p23"/>
          <p:cNvSpPr txBox="1"/>
          <p:nvPr/>
        </p:nvSpPr>
        <p:spPr>
          <a:xfrm>
            <a:off x="9015412" y="2738288"/>
            <a:ext cx="229076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11223F"/>
                </a:solidFill>
                <a:latin typeface="Inter"/>
                <a:ea typeface="Inter"/>
                <a:cs typeface="Inter"/>
                <a:sym typeface="Inter"/>
              </a:rPr>
              <a:t>BLUEPRINTS</a:t>
            </a:r>
            <a:endParaRPr/>
          </a:p>
        </p:txBody>
      </p:sp>
      <p:sp>
        <p:nvSpPr>
          <p:cNvPr id="386" name="Google Shape;386;p23"/>
          <p:cNvSpPr txBox="1"/>
          <p:nvPr/>
        </p:nvSpPr>
        <p:spPr>
          <a:xfrm>
            <a:off x="9015412" y="2947838"/>
            <a:ext cx="2290762" cy="538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Rigorous compilation of investment structure files and institutional sanction documents.</a:t>
            </a:r>
            <a:endParaRPr/>
          </a:p>
        </p:txBody>
      </p:sp>
      <p:sp>
        <p:nvSpPr>
          <p:cNvPr id="387" name="Google Shape;387;p23"/>
          <p:cNvSpPr txBox="1"/>
          <p:nvPr/>
        </p:nvSpPr>
        <p:spPr>
          <a:xfrm>
            <a:off x="885825" y="3953023"/>
            <a:ext cx="228123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C5A880"/>
                </a:solidFill>
                <a:latin typeface="Oswald"/>
                <a:ea typeface="Oswald"/>
                <a:cs typeface="Oswald"/>
                <a:sym typeface="Oswald"/>
              </a:rPr>
              <a:t>285+</a:t>
            </a:r>
            <a:endParaRPr/>
          </a:p>
        </p:txBody>
      </p:sp>
      <p:sp>
        <p:nvSpPr>
          <p:cNvPr id="388" name="Google Shape;388;p23"/>
          <p:cNvSpPr txBox="1"/>
          <p:nvPr/>
        </p:nvSpPr>
        <p:spPr>
          <a:xfrm>
            <a:off x="885825" y="4410223"/>
            <a:ext cx="22812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11223F"/>
                </a:solidFill>
                <a:latin typeface="Inter"/>
                <a:ea typeface="Inter"/>
                <a:cs typeface="Inter"/>
                <a:sym typeface="Inter"/>
              </a:rPr>
              <a:t>VALUATIONS</a:t>
            </a:r>
            <a:endParaRPr/>
          </a:p>
        </p:txBody>
      </p:sp>
      <p:sp>
        <p:nvSpPr>
          <p:cNvPr id="389" name="Google Shape;389;p23"/>
          <p:cNvSpPr txBox="1"/>
          <p:nvPr/>
        </p:nvSpPr>
        <p:spPr>
          <a:xfrm>
            <a:off x="885825" y="4619773"/>
            <a:ext cx="2281237" cy="538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Asset and business valuations prepared, assessed, and backed across diverse regulatory bodies.</a:t>
            </a:r>
            <a:endParaRPr/>
          </a:p>
        </p:txBody>
      </p:sp>
      <p:sp>
        <p:nvSpPr>
          <p:cNvPr id="390" name="Google Shape;390;p23"/>
          <p:cNvSpPr txBox="1"/>
          <p:nvPr/>
        </p:nvSpPr>
        <p:spPr>
          <a:xfrm>
            <a:off x="3595687" y="3953023"/>
            <a:ext cx="228123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C5A880"/>
                </a:solidFill>
                <a:latin typeface="Oswald"/>
                <a:ea typeface="Oswald"/>
                <a:cs typeface="Oswald"/>
                <a:sym typeface="Oswald"/>
              </a:rPr>
              <a:t>245+</a:t>
            </a:r>
            <a:endParaRPr/>
          </a:p>
        </p:txBody>
      </p:sp>
      <p:sp>
        <p:nvSpPr>
          <p:cNvPr id="391" name="Google Shape;391;p23"/>
          <p:cNvSpPr txBox="1"/>
          <p:nvPr/>
        </p:nvSpPr>
        <p:spPr>
          <a:xfrm>
            <a:off x="3595687" y="4410223"/>
            <a:ext cx="22812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11223F"/>
                </a:solidFill>
                <a:latin typeface="Inter"/>
                <a:ea typeface="Inter"/>
                <a:cs typeface="Inter"/>
                <a:sym typeface="Inter"/>
              </a:rPr>
              <a:t>M&amp;A TRANSACTIONS</a:t>
            </a:r>
            <a:endParaRPr/>
          </a:p>
        </p:txBody>
      </p:sp>
      <p:sp>
        <p:nvSpPr>
          <p:cNvPr id="392" name="Google Shape;392;p23"/>
          <p:cNvSpPr txBox="1"/>
          <p:nvPr/>
        </p:nvSpPr>
        <p:spPr>
          <a:xfrm>
            <a:off x="3595687" y="4619773"/>
            <a:ext cx="2281237" cy="538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Sector-agnostic transactions, strategic corporate deals, and due diligence advisory.</a:t>
            </a:r>
            <a:endParaRPr/>
          </a:p>
        </p:txBody>
      </p:sp>
      <p:sp>
        <p:nvSpPr>
          <p:cNvPr id="393" name="Google Shape;393;p23"/>
          <p:cNvSpPr txBox="1"/>
          <p:nvPr/>
        </p:nvSpPr>
        <p:spPr>
          <a:xfrm>
            <a:off x="6305550" y="3953023"/>
            <a:ext cx="228123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C5A880"/>
                </a:solidFill>
                <a:latin typeface="Oswald"/>
                <a:ea typeface="Oswald"/>
                <a:cs typeface="Oswald"/>
                <a:sym typeface="Oswald"/>
              </a:rPr>
              <a:t>USD 2.0B+</a:t>
            </a:r>
            <a:endParaRPr/>
          </a:p>
        </p:txBody>
      </p:sp>
      <p:sp>
        <p:nvSpPr>
          <p:cNvPr id="394" name="Google Shape;394;p23"/>
          <p:cNvSpPr txBox="1"/>
          <p:nvPr/>
        </p:nvSpPr>
        <p:spPr>
          <a:xfrm>
            <a:off x="6305550" y="4410223"/>
            <a:ext cx="22812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11223F"/>
                </a:solidFill>
                <a:latin typeface="Inter"/>
                <a:ea typeface="Inter"/>
                <a:cs typeface="Inter"/>
                <a:sym typeface="Inter"/>
              </a:rPr>
              <a:t>ADVISORY VALUE</a:t>
            </a:r>
            <a:endParaRPr/>
          </a:p>
        </p:txBody>
      </p:sp>
      <p:sp>
        <p:nvSpPr>
          <p:cNvPr id="395" name="Google Shape;395;p23"/>
          <p:cNvSpPr txBox="1"/>
          <p:nvPr/>
        </p:nvSpPr>
        <p:spPr>
          <a:xfrm>
            <a:off x="6305550" y="4619773"/>
            <a:ext cx="2281237" cy="538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Total deal value successfully advised on across complex corporate restructurings and exits.</a:t>
            </a:r>
            <a:endParaRPr/>
          </a:p>
        </p:txBody>
      </p:sp>
      <p:sp>
        <p:nvSpPr>
          <p:cNvPr id="396" name="Google Shape;396;p23"/>
          <p:cNvSpPr txBox="1"/>
          <p:nvPr/>
        </p:nvSpPr>
        <p:spPr>
          <a:xfrm>
            <a:off x="9015412" y="3953023"/>
            <a:ext cx="22907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C5A880"/>
                </a:solidFill>
                <a:latin typeface="Oswald"/>
                <a:ea typeface="Oswald"/>
                <a:cs typeface="Oswald"/>
                <a:sym typeface="Oswald"/>
              </a:rPr>
              <a:t>11+</a:t>
            </a:r>
            <a:endParaRPr/>
          </a:p>
        </p:txBody>
      </p:sp>
      <p:sp>
        <p:nvSpPr>
          <p:cNvPr id="397" name="Google Shape;397;p23"/>
          <p:cNvSpPr txBox="1"/>
          <p:nvPr/>
        </p:nvSpPr>
        <p:spPr>
          <a:xfrm>
            <a:off x="9015412" y="4410223"/>
            <a:ext cx="229076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11223F"/>
                </a:solidFill>
                <a:latin typeface="Inter"/>
                <a:ea typeface="Inter"/>
                <a:cs typeface="Inter"/>
                <a:sym typeface="Inter"/>
              </a:rPr>
              <a:t>GLOBAL COUNTRIES</a:t>
            </a:r>
            <a:endParaRPr/>
          </a:p>
        </p:txBody>
      </p:sp>
      <p:sp>
        <p:nvSpPr>
          <p:cNvPr id="398" name="Google Shape;398;p23"/>
          <p:cNvSpPr txBox="1"/>
          <p:nvPr/>
        </p:nvSpPr>
        <p:spPr>
          <a:xfrm>
            <a:off x="9015412" y="4619773"/>
            <a:ext cx="2290762" cy="538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Active client transactions executed across key offshore hubs outside mainland India.</a:t>
            </a:r>
            <a:endParaRPr/>
          </a:p>
        </p:txBody>
      </p:sp>
      <p:sp>
        <p:nvSpPr>
          <p:cNvPr id="399" name="Google Shape;399;p23"/>
          <p:cNvSpPr txBox="1"/>
          <p:nvPr/>
        </p:nvSpPr>
        <p:spPr>
          <a:xfrm>
            <a:off x="666750" y="476250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88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10 / TRACK RECORD</a:t>
            </a:r>
            <a:endParaRPr/>
          </a:p>
        </p:txBody>
      </p:sp>
      <p:sp>
        <p:nvSpPr>
          <p:cNvPr id="400" name="Google Shape;400;p23"/>
          <p:cNvSpPr txBox="1"/>
          <p:nvPr/>
        </p:nvSpPr>
        <p:spPr>
          <a:xfrm>
            <a:off x="666750" y="771525"/>
            <a:ext cx="11401425" cy="4790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1223F"/>
                </a:solidFill>
                <a:latin typeface="Oswald"/>
                <a:ea typeface="Oswald"/>
                <a:cs typeface="Oswald"/>
                <a:sym typeface="Oswald"/>
              </a:rPr>
              <a:t>PROVEN STRATEGIC </a:t>
            </a:r>
            <a:r>
              <a:rPr b="0" i="0" lang="en-US" sz="3150" u="none" cap="none" strike="noStrike">
                <a:solidFill>
                  <a:srgbClr val="C5A880"/>
                </a:solidFill>
                <a:latin typeface="Oswald Medium"/>
                <a:ea typeface="Oswald Medium"/>
                <a:cs typeface="Oswald Medium"/>
                <a:sym typeface="Oswald Medium"/>
              </a:rPr>
              <a:t>FOOTPRINT</a:t>
            </a:r>
            <a:endParaRPr/>
          </a:p>
        </p:txBody>
      </p:sp>
      <p:sp>
        <p:nvSpPr>
          <p:cNvPr id="401" name="Google Shape;401;p23"/>
          <p:cNvSpPr/>
          <p:nvPr/>
        </p:nvSpPr>
        <p:spPr>
          <a:xfrm>
            <a:off x="666750" y="1288702"/>
            <a:ext cx="10858500" cy="19050"/>
          </a:xfrm>
          <a:prstGeom prst="rect">
            <a:avLst/>
          </a:prstGeom>
          <a:solidFill>
            <a:srgbClr val="1122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3"/>
          <p:cNvSpPr/>
          <p:nvPr/>
        </p:nvSpPr>
        <p:spPr>
          <a:xfrm>
            <a:off x="666750" y="676275"/>
            <a:ext cx="952500" cy="9525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7" name="Google Shape;40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8" name="Google Shape;40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8025" y="966341"/>
            <a:ext cx="657225" cy="2652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9" name="Google Shape;409;p24"/>
          <p:cNvGrpSpPr/>
          <p:nvPr/>
        </p:nvGrpSpPr>
        <p:grpSpPr>
          <a:xfrm>
            <a:off x="666750" y="1571625"/>
            <a:ext cx="3467100" cy="4714800"/>
            <a:chOff x="666750" y="1571625"/>
            <a:chExt cx="3467100" cy="4714800"/>
          </a:xfrm>
        </p:grpSpPr>
        <p:sp>
          <p:nvSpPr>
            <p:cNvPr id="410" name="Google Shape;410;p24"/>
            <p:cNvSpPr/>
            <p:nvPr/>
          </p:nvSpPr>
          <p:spPr>
            <a:xfrm>
              <a:off x="666750" y="1571625"/>
              <a:ext cx="3467100" cy="4714800"/>
            </a:xfrm>
            <a:prstGeom prst="roundRect">
              <a:avLst>
                <a:gd fmla="val 329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4"/>
            <p:cNvSpPr/>
            <p:nvPr/>
          </p:nvSpPr>
          <p:spPr>
            <a:xfrm>
              <a:off x="666750" y="1571625"/>
              <a:ext cx="3467100" cy="57300"/>
            </a:xfrm>
            <a:prstGeom prst="roundRect">
              <a:avLst>
                <a:gd fmla="val 50000" name="adj"/>
              </a:avLst>
            </a:prstGeom>
            <a:solidFill>
              <a:srgbClr val="1122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12" name="Google Shape;412;p24"/>
            <p:cNvPicPr preferRelativeResize="0"/>
            <p:nvPr/>
          </p:nvPicPr>
          <p:blipFill rotWithShape="1">
            <a:blip r:embed="rId5">
              <a:alphaModFix/>
            </a:blip>
            <a:srcRect b="0" l="2245" r="2245" t="0"/>
            <a:stretch/>
          </p:blipFill>
          <p:spPr>
            <a:xfrm>
              <a:off x="1876425" y="1809750"/>
              <a:ext cx="1047900" cy="1047900"/>
            </a:xfrm>
            <a:prstGeom prst="roundRect">
              <a:avLst>
                <a:gd fmla="val 0" name="adj"/>
              </a:avLst>
            </a:prstGeom>
            <a:noFill/>
            <a:ln>
              <a:noFill/>
            </a:ln>
          </p:spPr>
        </p:pic>
        <p:sp>
          <p:nvSpPr>
            <p:cNvPr id="413" name="Google Shape;413;p24"/>
            <p:cNvSpPr txBox="1"/>
            <p:nvPr/>
          </p:nvSpPr>
          <p:spPr>
            <a:xfrm>
              <a:off x="857250" y="3000375"/>
              <a:ext cx="30861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11223F"/>
                  </a:solidFill>
                  <a:latin typeface="Oswald SemiBold"/>
                  <a:ea typeface="Oswald SemiBold"/>
                  <a:cs typeface="Oswald SemiBold"/>
                  <a:sym typeface="Oswald SemiBold"/>
                </a:rPr>
                <a:t>DIPEN U. SHAH</a:t>
              </a:r>
              <a:endParaRPr b="0" sz="1600">
                <a:solidFill>
                  <a:srgbClr val="11223F"/>
                </a:solidFill>
                <a:latin typeface="Oswald SemiBold"/>
                <a:ea typeface="Oswald SemiBold"/>
                <a:cs typeface="Oswald SemiBold"/>
                <a:sym typeface="Oswald SemiBold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C5A880"/>
                  </a:solidFill>
                  <a:latin typeface="Inter"/>
                  <a:ea typeface="Inter"/>
                  <a:cs typeface="Inter"/>
                  <a:sym typeface="Inter"/>
                </a:rPr>
                <a:t>FOUNDER DIRECTOR • CA | CS</a:t>
              </a:r>
              <a:endParaRPr b="1" sz="900">
                <a:solidFill>
                  <a:srgbClr val="C5A8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14" name="Google Shape;414;p24"/>
            <p:cNvSpPr txBox="1"/>
            <p:nvPr/>
          </p:nvSpPr>
          <p:spPr>
            <a:xfrm>
              <a:off x="904875" y="3667125"/>
              <a:ext cx="2991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11223F"/>
                  </a:solidFill>
                  <a:latin typeface="Inter"/>
                  <a:ea typeface="Inter"/>
                  <a:cs typeface="Inter"/>
                  <a:sym typeface="Inter"/>
                </a:rPr>
                <a:t>18+ Years:</a:t>
              </a:r>
              <a:r>
                <a:rPr lang="en-US" sz="10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ING, Kotak Mahindra Bank &amp; senior structures.</a:t>
              </a:r>
              <a:endParaRPr sz="10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11223F"/>
                  </a:solidFill>
                  <a:latin typeface="Inter"/>
                  <a:ea typeface="Inter"/>
                  <a:cs typeface="Inter"/>
                  <a:sym typeface="Inter"/>
                </a:rPr>
                <a:t>Depth:</a:t>
              </a:r>
              <a:r>
                <a:rPr lang="en-US" sz="10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Capital markets, offshore setups, fund mobilisation.</a:t>
              </a:r>
              <a:endParaRPr sz="10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415" name="Google Shape;415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04875" y="5160825"/>
              <a:ext cx="2897700" cy="929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6" name="Google Shape;416;p24"/>
          <p:cNvGrpSpPr/>
          <p:nvPr/>
        </p:nvGrpSpPr>
        <p:grpSpPr>
          <a:xfrm>
            <a:off x="4362450" y="1571625"/>
            <a:ext cx="3467100" cy="4714800"/>
            <a:chOff x="4362450" y="1571625"/>
            <a:chExt cx="3467100" cy="4714800"/>
          </a:xfrm>
        </p:grpSpPr>
        <p:sp>
          <p:nvSpPr>
            <p:cNvPr id="417" name="Google Shape;417;p24"/>
            <p:cNvSpPr/>
            <p:nvPr/>
          </p:nvSpPr>
          <p:spPr>
            <a:xfrm>
              <a:off x="4362450" y="1571625"/>
              <a:ext cx="3467100" cy="4714800"/>
            </a:xfrm>
            <a:prstGeom prst="roundRect">
              <a:avLst>
                <a:gd fmla="val 329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4"/>
            <p:cNvSpPr/>
            <p:nvPr/>
          </p:nvSpPr>
          <p:spPr>
            <a:xfrm>
              <a:off x="4362450" y="1571625"/>
              <a:ext cx="3467100" cy="57300"/>
            </a:xfrm>
            <a:prstGeom prst="roundRect">
              <a:avLst>
                <a:gd fmla="val 50000" name="adj"/>
              </a:avLst>
            </a:prstGeom>
            <a:solidFill>
              <a:srgbClr val="1122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19" name="Google Shape;419;p24"/>
            <p:cNvPicPr preferRelativeResize="0"/>
            <p:nvPr/>
          </p:nvPicPr>
          <p:blipFill rotWithShape="1">
            <a:blip r:embed="rId7">
              <a:alphaModFix/>
            </a:blip>
            <a:srcRect b="0" l="5658" r="5666" t="0"/>
            <a:stretch/>
          </p:blipFill>
          <p:spPr>
            <a:xfrm>
              <a:off x="5572125" y="1809750"/>
              <a:ext cx="1047900" cy="1047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0" name="Google Shape;420;p24"/>
            <p:cNvSpPr txBox="1"/>
            <p:nvPr/>
          </p:nvSpPr>
          <p:spPr>
            <a:xfrm>
              <a:off x="4552950" y="3000375"/>
              <a:ext cx="30861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11223F"/>
                  </a:solidFill>
                  <a:latin typeface="Oswald SemiBold"/>
                  <a:ea typeface="Oswald SemiBold"/>
                  <a:cs typeface="Oswald SemiBold"/>
                  <a:sym typeface="Oswald SemiBold"/>
                </a:rPr>
                <a:t>SHAIL SHAH</a:t>
              </a:r>
              <a:endParaRPr b="0" sz="1600">
                <a:solidFill>
                  <a:srgbClr val="11223F"/>
                </a:solidFill>
                <a:latin typeface="Oswald SemiBold"/>
                <a:ea typeface="Oswald SemiBold"/>
                <a:cs typeface="Oswald SemiBold"/>
                <a:sym typeface="Oswald SemiBold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C5A880"/>
                  </a:solidFill>
                  <a:latin typeface="Inter"/>
                  <a:ea typeface="Inter"/>
                  <a:cs typeface="Inter"/>
                  <a:sym typeface="Inter"/>
                </a:rPr>
                <a:t>DIRECTOR - M&amp;A &amp; TAX • CA</a:t>
              </a:r>
              <a:endParaRPr b="1" sz="900">
                <a:solidFill>
                  <a:srgbClr val="C5A8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21" name="Google Shape;421;p24"/>
            <p:cNvSpPr txBox="1"/>
            <p:nvPr/>
          </p:nvSpPr>
          <p:spPr>
            <a:xfrm>
              <a:off x="4600575" y="3667125"/>
              <a:ext cx="2991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11223F"/>
                  </a:solidFill>
                  <a:latin typeface="Inter"/>
                  <a:ea typeface="Inter"/>
                  <a:cs typeface="Inter"/>
                  <a:sym typeface="Inter"/>
                </a:rPr>
                <a:t>15+ Years:</a:t>
              </a:r>
              <a:r>
                <a:rPr lang="en-US" sz="10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Regulatory leadership, corporate taxation schemes.</a:t>
              </a:r>
              <a:endParaRPr sz="10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11223F"/>
                  </a:solidFill>
                  <a:latin typeface="Inter"/>
                  <a:ea typeface="Inter"/>
                  <a:cs typeface="Inter"/>
                  <a:sym typeface="Inter"/>
                </a:rPr>
                <a:t>Depth:</a:t>
              </a:r>
              <a:r>
                <a:rPr lang="en-US" sz="10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Advanced M&amp;A valuation, global corporate frameworks.</a:t>
              </a:r>
              <a:endParaRPr sz="10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422" name="Google Shape;422;p24"/>
            <p:cNvPicPr preferRelativeResize="0"/>
            <p:nvPr/>
          </p:nvPicPr>
          <p:blipFill rotWithShape="1">
            <a:blip r:embed="rId8">
              <a:alphaModFix/>
            </a:blip>
            <a:srcRect b="1845" l="0" r="0" t="0"/>
            <a:stretch/>
          </p:blipFill>
          <p:spPr>
            <a:xfrm>
              <a:off x="4572000" y="5110575"/>
              <a:ext cx="3086100" cy="1047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3" name="Google Shape;423;p24"/>
          <p:cNvGrpSpPr/>
          <p:nvPr/>
        </p:nvGrpSpPr>
        <p:grpSpPr>
          <a:xfrm>
            <a:off x="8058150" y="1571625"/>
            <a:ext cx="3467100" cy="4714800"/>
            <a:chOff x="8058150" y="1571625"/>
            <a:chExt cx="3467100" cy="4714800"/>
          </a:xfrm>
        </p:grpSpPr>
        <p:sp>
          <p:nvSpPr>
            <p:cNvPr id="424" name="Google Shape;424;p24"/>
            <p:cNvSpPr/>
            <p:nvPr/>
          </p:nvSpPr>
          <p:spPr>
            <a:xfrm>
              <a:off x="8058150" y="1571625"/>
              <a:ext cx="3467100" cy="4714800"/>
            </a:xfrm>
            <a:prstGeom prst="roundRect">
              <a:avLst>
                <a:gd fmla="val 329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4"/>
            <p:cNvSpPr/>
            <p:nvPr/>
          </p:nvSpPr>
          <p:spPr>
            <a:xfrm>
              <a:off x="8058150" y="1571625"/>
              <a:ext cx="3467100" cy="57300"/>
            </a:xfrm>
            <a:prstGeom prst="roundRect">
              <a:avLst>
                <a:gd fmla="val 50000" name="adj"/>
              </a:avLst>
            </a:prstGeom>
            <a:solidFill>
              <a:srgbClr val="1122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26" name="Google Shape;426;p24"/>
            <p:cNvPicPr preferRelativeResize="0"/>
            <p:nvPr/>
          </p:nvPicPr>
          <p:blipFill rotWithShape="1">
            <a:blip r:embed="rId9">
              <a:alphaModFix/>
            </a:blip>
            <a:srcRect b="0" l="5729" r="5720" t="0"/>
            <a:stretch/>
          </p:blipFill>
          <p:spPr>
            <a:xfrm>
              <a:off x="9267825" y="1809750"/>
              <a:ext cx="1047900" cy="1047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24"/>
            <p:cNvSpPr txBox="1"/>
            <p:nvPr/>
          </p:nvSpPr>
          <p:spPr>
            <a:xfrm>
              <a:off x="8248650" y="3000375"/>
              <a:ext cx="30861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11223F"/>
                  </a:solidFill>
                  <a:latin typeface="Oswald SemiBold"/>
                  <a:ea typeface="Oswald SemiBold"/>
                  <a:cs typeface="Oswald SemiBold"/>
                  <a:sym typeface="Oswald SemiBold"/>
                </a:rPr>
                <a:t>DHIREN PANCHAL</a:t>
              </a:r>
              <a:endParaRPr b="0" sz="1600">
                <a:solidFill>
                  <a:srgbClr val="11223F"/>
                </a:solidFill>
                <a:latin typeface="Oswald SemiBold"/>
                <a:ea typeface="Oswald SemiBold"/>
                <a:cs typeface="Oswald SemiBold"/>
                <a:sym typeface="Oswald SemiBold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C5A880"/>
                  </a:solidFill>
                  <a:latin typeface="Inter"/>
                  <a:ea typeface="Inter"/>
                  <a:cs typeface="Inter"/>
                  <a:sym typeface="Inter"/>
                </a:rPr>
                <a:t>DIRECTOR - GLOBAL BANKING • CFA</a:t>
              </a:r>
              <a:endParaRPr b="1" sz="900">
                <a:solidFill>
                  <a:srgbClr val="C5A8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28" name="Google Shape;428;p24"/>
            <p:cNvSpPr txBox="1"/>
            <p:nvPr/>
          </p:nvSpPr>
          <p:spPr>
            <a:xfrm>
              <a:off x="8296275" y="3667125"/>
              <a:ext cx="2991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11223F"/>
                  </a:solidFill>
                  <a:latin typeface="Inter"/>
                  <a:ea typeface="Inter"/>
                  <a:cs typeface="Inter"/>
                  <a:sym typeface="Inter"/>
                </a:rPr>
                <a:t>20+ Years:</a:t>
              </a:r>
              <a:r>
                <a:rPr lang="en-US" sz="10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ICICI Bank, ABN Amro, HSBC, Yes Bank, DBS Bank.</a:t>
              </a:r>
              <a:endParaRPr sz="10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11223F"/>
                  </a:solidFill>
                  <a:latin typeface="Inter"/>
                  <a:ea typeface="Inter"/>
                  <a:cs typeface="Inter"/>
                  <a:sym typeface="Inter"/>
                </a:rPr>
                <a:t>Depth:</a:t>
              </a:r>
              <a:r>
                <a:rPr lang="en-US" sz="10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Global banking networks, structures, FEMA guidelines.</a:t>
              </a:r>
              <a:endParaRPr sz="10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429" name="Google Shape;429;p2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8463150" y="5186450"/>
              <a:ext cx="2697000" cy="918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0" name="Google Shape;430;p24"/>
          <p:cNvSpPr txBox="1"/>
          <p:nvPr/>
        </p:nvSpPr>
        <p:spPr>
          <a:xfrm>
            <a:off x="666750" y="476250"/>
            <a:ext cx="10858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88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11 / LEADERSHIP</a:t>
            </a:r>
            <a:endParaRPr/>
          </a:p>
        </p:txBody>
      </p:sp>
      <p:sp>
        <p:nvSpPr>
          <p:cNvPr id="431" name="Google Shape;431;p24"/>
          <p:cNvSpPr txBox="1"/>
          <p:nvPr/>
        </p:nvSpPr>
        <p:spPr>
          <a:xfrm>
            <a:off x="666750" y="771525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1223F"/>
                </a:solidFill>
                <a:latin typeface="Oswald"/>
                <a:ea typeface="Oswald"/>
                <a:cs typeface="Oswald"/>
                <a:sym typeface="Oswald"/>
              </a:rPr>
              <a:t>EXECUTIVE BOARD </a:t>
            </a:r>
            <a:r>
              <a:rPr b="0" i="0" lang="en-US" sz="3150" u="none" cap="none" strike="noStrike">
                <a:solidFill>
                  <a:srgbClr val="C5A880"/>
                </a:solidFill>
                <a:latin typeface="Oswald Medium"/>
                <a:ea typeface="Oswald Medium"/>
                <a:cs typeface="Oswald Medium"/>
                <a:sym typeface="Oswald Medium"/>
              </a:rPr>
              <a:t>DIRECTORS</a:t>
            </a:r>
            <a:endParaRPr/>
          </a:p>
        </p:txBody>
      </p:sp>
      <p:sp>
        <p:nvSpPr>
          <p:cNvPr id="432" name="Google Shape;432;p24"/>
          <p:cNvSpPr/>
          <p:nvPr/>
        </p:nvSpPr>
        <p:spPr>
          <a:xfrm>
            <a:off x="666750" y="1288702"/>
            <a:ext cx="10858500" cy="19200"/>
          </a:xfrm>
          <a:prstGeom prst="rect">
            <a:avLst/>
          </a:prstGeom>
          <a:solidFill>
            <a:srgbClr val="1122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4"/>
          <p:cNvSpPr/>
          <p:nvPr/>
        </p:nvSpPr>
        <p:spPr>
          <a:xfrm>
            <a:off x="666750" y="676275"/>
            <a:ext cx="952500" cy="960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8" name="Google Shape;43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9" name="Google Shape;439;p25"/>
          <p:cNvGrpSpPr/>
          <p:nvPr/>
        </p:nvGrpSpPr>
        <p:grpSpPr>
          <a:xfrm>
            <a:off x="666750" y="1571625"/>
            <a:ext cx="3467100" cy="4714800"/>
            <a:chOff x="666750" y="1571625"/>
            <a:chExt cx="3467100" cy="4714800"/>
          </a:xfrm>
        </p:grpSpPr>
        <p:sp>
          <p:nvSpPr>
            <p:cNvPr id="440" name="Google Shape;440;p25"/>
            <p:cNvSpPr/>
            <p:nvPr/>
          </p:nvSpPr>
          <p:spPr>
            <a:xfrm>
              <a:off x="666750" y="1571625"/>
              <a:ext cx="3467100" cy="4714800"/>
            </a:xfrm>
            <a:prstGeom prst="roundRect">
              <a:avLst>
                <a:gd fmla="val 329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5"/>
            <p:cNvSpPr/>
            <p:nvPr/>
          </p:nvSpPr>
          <p:spPr>
            <a:xfrm>
              <a:off x="666750" y="1571625"/>
              <a:ext cx="3467100" cy="57300"/>
            </a:xfrm>
            <a:prstGeom prst="roundRect">
              <a:avLst>
                <a:gd fmla="val 50000" name="adj"/>
              </a:avLst>
            </a:prstGeom>
            <a:solidFill>
              <a:srgbClr val="1122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2" name="Google Shape;442;p25"/>
            <p:cNvPicPr preferRelativeResize="0"/>
            <p:nvPr/>
          </p:nvPicPr>
          <p:blipFill rotWithShape="1">
            <a:blip r:embed="rId4">
              <a:alphaModFix/>
            </a:blip>
            <a:srcRect b="0" l="5445" r="5436" t="0"/>
            <a:stretch/>
          </p:blipFill>
          <p:spPr>
            <a:xfrm>
              <a:off x="1865050" y="1809750"/>
              <a:ext cx="1059300" cy="10479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443" name="Google Shape;443;p25"/>
            <p:cNvSpPr txBox="1"/>
            <p:nvPr/>
          </p:nvSpPr>
          <p:spPr>
            <a:xfrm>
              <a:off x="857250" y="3000375"/>
              <a:ext cx="30861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11223F"/>
                  </a:solidFill>
                  <a:latin typeface="Oswald SemiBold"/>
                  <a:ea typeface="Oswald SemiBold"/>
                  <a:cs typeface="Oswald SemiBold"/>
                  <a:sym typeface="Oswald SemiBold"/>
                </a:rPr>
                <a:t>PIYUSH AKHAJA</a:t>
              </a:r>
              <a:endParaRPr b="0" sz="1600">
                <a:solidFill>
                  <a:srgbClr val="11223F"/>
                </a:solidFill>
                <a:latin typeface="Oswald SemiBold"/>
                <a:ea typeface="Oswald SemiBold"/>
                <a:cs typeface="Oswald SemiBold"/>
                <a:sym typeface="Oswald SemiBold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C5A880"/>
                  </a:solidFill>
                  <a:latin typeface="Inter"/>
                  <a:ea typeface="Inter"/>
                  <a:cs typeface="Inter"/>
                  <a:sym typeface="Inter"/>
                </a:rPr>
                <a:t>DIRECTOR - EQUITY ADVISORY</a:t>
              </a:r>
              <a:endParaRPr b="1" sz="900">
                <a:solidFill>
                  <a:srgbClr val="C5A8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44" name="Google Shape;444;p25"/>
            <p:cNvSpPr txBox="1"/>
            <p:nvPr/>
          </p:nvSpPr>
          <p:spPr>
            <a:xfrm>
              <a:off x="904875" y="3667125"/>
              <a:ext cx="29910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11223F"/>
                  </a:solidFill>
                  <a:latin typeface="Inter"/>
                  <a:ea typeface="Inter"/>
                  <a:cs typeface="Inter"/>
                  <a:sym typeface="Inter"/>
                </a:rPr>
                <a:t>15+ Years:</a:t>
              </a:r>
              <a:r>
                <a:rPr b="0" lang="en-US" sz="10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Investment Banking, corporate structuring.</a:t>
              </a:r>
              <a:endParaRPr b="1" sz="1050">
                <a:solidFill>
                  <a:srgbClr val="11223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1" lang="en-US" sz="1050">
                  <a:solidFill>
                    <a:srgbClr val="11223F"/>
                  </a:solidFill>
                  <a:latin typeface="Inter"/>
                  <a:ea typeface="Inter"/>
                  <a:cs typeface="Inter"/>
                  <a:sym typeface="Inter"/>
                </a:rPr>
                <a:t>Depth:</a:t>
              </a:r>
              <a:r>
                <a:rPr b="0" lang="en-US" sz="10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Detailed operational models, DCF valuation, exits.</a:t>
              </a:r>
              <a:endParaRPr b="1" sz="1050">
                <a:solidFill>
                  <a:srgbClr val="11223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445" name="Google Shape;445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57275" y="5102700"/>
              <a:ext cx="2676600" cy="1015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6" name="Google Shape;446;p25"/>
          <p:cNvGrpSpPr/>
          <p:nvPr/>
        </p:nvGrpSpPr>
        <p:grpSpPr>
          <a:xfrm>
            <a:off x="4362450" y="1571625"/>
            <a:ext cx="3467100" cy="4714800"/>
            <a:chOff x="4362450" y="1571625"/>
            <a:chExt cx="3467100" cy="4714800"/>
          </a:xfrm>
        </p:grpSpPr>
        <p:sp>
          <p:nvSpPr>
            <p:cNvPr id="447" name="Google Shape;447;p25"/>
            <p:cNvSpPr/>
            <p:nvPr/>
          </p:nvSpPr>
          <p:spPr>
            <a:xfrm>
              <a:off x="4362450" y="1571625"/>
              <a:ext cx="3467100" cy="4714800"/>
            </a:xfrm>
            <a:prstGeom prst="roundRect">
              <a:avLst>
                <a:gd fmla="val 329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5"/>
            <p:cNvSpPr/>
            <p:nvPr/>
          </p:nvSpPr>
          <p:spPr>
            <a:xfrm>
              <a:off x="4362450" y="1571625"/>
              <a:ext cx="3467100" cy="57300"/>
            </a:xfrm>
            <a:prstGeom prst="roundRect">
              <a:avLst>
                <a:gd fmla="val 50000" name="adj"/>
              </a:avLst>
            </a:prstGeom>
            <a:solidFill>
              <a:srgbClr val="1122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9" name="Google Shape;449;p25"/>
            <p:cNvPicPr preferRelativeResize="0"/>
            <p:nvPr/>
          </p:nvPicPr>
          <p:blipFill rotWithShape="1">
            <a:blip r:embed="rId6">
              <a:alphaModFix/>
            </a:blip>
            <a:srcRect b="0" l="5713" r="5713" t="0"/>
            <a:stretch/>
          </p:blipFill>
          <p:spPr>
            <a:xfrm>
              <a:off x="5572125" y="1809750"/>
              <a:ext cx="1047900" cy="1047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0" name="Google Shape;450;p25"/>
            <p:cNvSpPr txBox="1"/>
            <p:nvPr/>
          </p:nvSpPr>
          <p:spPr>
            <a:xfrm>
              <a:off x="4552950" y="3000375"/>
              <a:ext cx="30861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11223F"/>
                  </a:solidFill>
                  <a:latin typeface="Oswald SemiBold"/>
                  <a:ea typeface="Oswald SemiBold"/>
                  <a:cs typeface="Oswald SemiBold"/>
                  <a:sym typeface="Oswald SemiBold"/>
                </a:rPr>
                <a:t>MAHIT PURI</a:t>
              </a:r>
              <a:endParaRPr b="0" sz="1600">
                <a:solidFill>
                  <a:srgbClr val="11223F"/>
                </a:solidFill>
                <a:latin typeface="Oswald SemiBold"/>
                <a:ea typeface="Oswald SemiBold"/>
                <a:cs typeface="Oswald SemiBold"/>
                <a:sym typeface="Oswald SemiBold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C5A880"/>
                  </a:solidFill>
                  <a:latin typeface="Inter"/>
                  <a:ea typeface="Inter"/>
                  <a:cs typeface="Inter"/>
                  <a:sym typeface="Inter"/>
                </a:rPr>
                <a:t>DIRECTOR - VALUATION • CA</a:t>
              </a:r>
              <a:endParaRPr b="1" sz="900">
                <a:solidFill>
                  <a:srgbClr val="C5A8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51" name="Google Shape;451;p25"/>
            <p:cNvSpPr txBox="1"/>
            <p:nvPr/>
          </p:nvSpPr>
          <p:spPr>
            <a:xfrm>
              <a:off x="4600575" y="3667125"/>
              <a:ext cx="29910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11223F"/>
                  </a:solidFill>
                  <a:latin typeface="Inter"/>
                  <a:ea typeface="Inter"/>
                  <a:cs typeface="Inter"/>
                  <a:sym typeface="Inter"/>
                </a:rPr>
                <a:t>14+ Years:</a:t>
              </a:r>
              <a:r>
                <a:rPr b="0" lang="en-US" sz="10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Debt Syndication, capital placement operations.</a:t>
              </a:r>
              <a:endParaRPr b="1" sz="1050">
                <a:solidFill>
                  <a:srgbClr val="11223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1" lang="en-US" sz="1050">
                  <a:solidFill>
                    <a:srgbClr val="11223F"/>
                  </a:solidFill>
                  <a:latin typeface="Inter"/>
                  <a:ea typeface="Inter"/>
                  <a:cs typeface="Inter"/>
                  <a:sym typeface="Inter"/>
                </a:rPr>
                <a:t>Depth:</a:t>
              </a:r>
              <a:r>
                <a:rPr b="0" lang="en-US" sz="10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Structured finance structures, cross-border deal flow.</a:t>
              </a:r>
              <a:endParaRPr b="1" sz="1050">
                <a:solidFill>
                  <a:srgbClr val="11223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452" name="Google Shape;452;p2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705350" y="5034725"/>
              <a:ext cx="2781300" cy="1141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3" name="Google Shape;453;p25"/>
          <p:cNvGrpSpPr/>
          <p:nvPr/>
        </p:nvGrpSpPr>
        <p:grpSpPr>
          <a:xfrm>
            <a:off x="8058150" y="1571625"/>
            <a:ext cx="3467100" cy="4714800"/>
            <a:chOff x="8058150" y="1571625"/>
            <a:chExt cx="3467100" cy="4714800"/>
          </a:xfrm>
        </p:grpSpPr>
        <p:sp>
          <p:nvSpPr>
            <p:cNvPr id="454" name="Google Shape;454;p25"/>
            <p:cNvSpPr/>
            <p:nvPr/>
          </p:nvSpPr>
          <p:spPr>
            <a:xfrm>
              <a:off x="8058150" y="1571625"/>
              <a:ext cx="3467100" cy="4714800"/>
            </a:xfrm>
            <a:prstGeom prst="roundRect">
              <a:avLst>
                <a:gd fmla="val 329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5"/>
            <p:cNvSpPr/>
            <p:nvPr/>
          </p:nvSpPr>
          <p:spPr>
            <a:xfrm>
              <a:off x="8058150" y="1571625"/>
              <a:ext cx="3467100" cy="57300"/>
            </a:xfrm>
            <a:prstGeom prst="roundRect">
              <a:avLst>
                <a:gd fmla="val 50000" name="adj"/>
              </a:avLst>
            </a:prstGeom>
            <a:solidFill>
              <a:srgbClr val="1122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56" name="Google Shape;456;p25"/>
            <p:cNvPicPr preferRelativeResize="0"/>
            <p:nvPr/>
          </p:nvPicPr>
          <p:blipFill rotWithShape="1">
            <a:blip r:embed="rId8">
              <a:alphaModFix/>
            </a:blip>
            <a:srcRect b="0" l="2669" r="2679" t="0"/>
            <a:stretch/>
          </p:blipFill>
          <p:spPr>
            <a:xfrm>
              <a:off x="9267825" y="1809750"/>
              <a:ext cx="1047900" cy="1047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7" name="Google Shape;457;p25"/>
            <p:cNvSpPr txBox="1"/>
            <p:nvPr/>
          </p:nvSpPr>
          <p:spPr>
            <a:xfrm>
              <a:off x="8248650" y="3000375"/>
              <a:ext cx="30861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11223F"/>
                  </a:solidFill>
                  <a:latin typeface="Oswald SemiBold"/>
                  <a:ea typeface="Oswald SemiBold"/>
                  <a:cs typeface="Oswald SemiBold"/>
                  <a:sym typeface="Oswald SemiBold"/>
                </a:rPr>
                <a:t>ARPI AKHAJA</a:t>
              </a:r>
              <a:endParaRPr b="0" sz="1600">
                <a:solidFill>
                  <a:srgbClr val="11223F"/>
                </a:solidFill>
                <a:latin typeface="Oswald SemiBold"/>
                <a:ea typeface="Oswald SemiBold"/>
                <a:cs typeface="Oswald SemiBold"/>
                <a:sym typeface="Oswald SemiBold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C5A880"/>
                  </a:solidFill>
                  <a:latin typeface="Inter"/>
                  <a:ea typeface="Inter"/>
                  <a:cs typeface="Inter"/>
                  <a:sym typeface="Inter"/>
                </a:rPr>
                <a:t>HEAD - MODELING &amp; MIS</a:t>
              </a:r>
              <a:endParaRPr b="1" sz="900">
                <a:solidFill>
                  <a:srgbClr val="C5A8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58" name="Google Shape;458;p25"/>
            <p:cNvSpPr txBox="1"/>
            <p:nvPr/>
          </p:nvSpPr>
          <p:spPr>
            <a:xfrm>
              <a:off x="8296275" y="3667125"/>
              <a:ext cx="29910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11223F"/>
                  </a:solidFill>
                  <a:latin typeface="Inter"/>
                  <a:ea typeface="Inter"/>
                  <a:cs typeface="Inter"/>
                  <a:sym typeface="Inter"/>
                </a:rPr>
                <a:t>12+ Years:</a:t>
              </a:r>
              <a:r>
                <a:rPr b="0" lang="en-US" sz="10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Corporate financial planning &amp; portfolio analysis.</a:t>
              </a:r>
              <a:endParaRPr b="1" sz="1050">
                <a:solidFill>
                  <a:srgbClr val="11223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1" lang="en-US" sz="1050">
                  <a:solidFill>
                    <a:srgbClr val="11223F"/>
                  </a:solidFill>
                  <a:latin typeface="Inter"/>
                  <a:ea typeface="Inter"/>
                  <a:cs typeface="Inter"/>
                  <a:sym typeface="Inter"/>
                </a:rPr>
                <a:t>Depth:</a:t>
              </a:r>
              <a:r>
                <a:rPr b="0" lang="en-US" sz="10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Structural modeling, validation, databases.</a:t>
              </a:r>
              <a:endParaRPr b="1" sz="1050">
                <a:solidFill>
                  <a:srgbClr val="11223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459" name="Google Shape;459;p25"/>
            <p:cNvPicPr preferRelativeResize="0"/>
            <p:nvPr/>
          </p:nvPicPr>
          <p:blipFill rotWithShape="1">
            <a:blip r:embed="rId9">
              <a:alphaModFix/>
            </a:blip>
            <a:srcRect b="-353" l="0" r="0" t="2381"/>
            <a:stretch/>
          </p:blipFill>
          <p:spPr>
            <a:xfrm>
              <a:off x="8401050" y="5096025"/>
              <a:ext cx="2781300" cy="10479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image.png" id="460" name="Google Shape;460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868025" y="966341"/>
            <a:ext cx="657225" cy="265211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25"/>
          <p:cNvSpPr txBox="1"/>
          <p:nvPr/>
        </p:nvSpPr>
        <p:spPr>
          <a:xfrm>
            <a:off x="666750" y="476250"/>
            <a:ext cx="10858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88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12 / LEADERSHIP</a:t>
            </a:r>
            <a:endParaRPr/>
          </a:p>
        </p:txBody>
      </p:sp>
      <p:sp>
        <p:nvSpPr>
          <p:cNvPr id="462" name="Google Shape;462;p25"/>
          <p:cNvSpPr txBox="1"/>
          <p:nvPr/>
        </p:nvSpPr>
        <p:spPr>
          <a:xfrm>
            <a:off x="666750" y="771525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1223F"/>
                </a:solidFill>
                <a:latin typeface="Oswald"/>
                <a:ea typeface="Oswald"/>
                <a:cs typeface="Oswald"/>
                <a:sym typeface="Oswald"/>
              </a:rPr>
              <a:t>STRATEGIC EXECUTION </a:t>
            </a:r>
            <a:r>
              <a:rPr b="0" i="0" lang="en-US" sz="3150" u="none" cap="none" strike="noStrike">
                <a:solidFill>
                  <a:srgbClr val="C5A880"/>
                </a:solidFill>
                <a:latin typeface="Oswald Medium"/>
                <a:ea typeface="Oswald Medium"/>
                <a:cs typeface="Oswald Medium"/>
                <a:sym typeface="Oswald Medium"/>
              </a:rPr>
              <a:t>DIRECTORS</a:t>
            </a:r>
            <a:endParaRPr/>
          </a:p>
        </p:txBody>
      </p:sp>
      <p:sp>
        <p:nvSpPr>
          <p:cNvPr id="463" name="Google Shape;463;p25"/>
          <p:cNvSpPr/>
          <p:nvPr/>
        </p:nvSpPr>
        <p:spPr>
          <a:xfrm>
            <a:off x="666750" y="1288702"/>
            <a:ext cx="10858500" cy="19200"/>
          </a:xfrm>
          <a:prstGeom prst="rect">
            <a:avLst/>
          </a:prstGeom>
          <a:solidFill>
            <a:srgbClr val="1122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5"/>
          <p:cNvSpPr/>
          <p:nvPr/>
        </p:nvSpPr>
        <p:spPr>
          <a:xfrm>
            <a:off x="666750" y="676275"/>
            <a:ext cx="952500" cy="960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223F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9" name="Google Shape;46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0" name="Google Shape;47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47875" y="3500883"/>
            <a:ext cx="8096250" cy="136014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26"/>
          <p:cNvSpPr/>
          <p:nvPr/>
        </p:nvSpPr>
        <p:spPr>
          <a:xfrm>
            <a:off x="4922043" y="3942754"/>
            <a:ext cx="9525" cy="47625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6"/>
          <p:cNvSpPr/>
          <p:nvPr/>
        </p:nvSpPr>
        <p:spPr>
          <a:xfrm>
            <a:off x="7646193" y="3942754"/>
            <a:ext cx="9525" cy="47625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6"/>
          <p:cNvSpPr txBox="1"/>
          <p:nvPr/>
        </p:nvSpPr>
        <p:spPr>
          <a:xfrm>
            <a:off x="2840831" y="3876228"/>
            <a:ext cx="1700212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5A88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INQUIRIES</a:t>
            </a:r>
            <a:endParaRPr/>
          </a:p>
        </p:txBody>
      </p:sp>
      <p:sp>
        <p:nvSpPr>
          <p:cNvPr id="474" name="Google Shape;474;p26"/>
          <p:cNvSpPr txBox="1"/>
          <p:nvPr/>
        </p:nvSpPr>
        <p:spPr>
          <a:xfrm>
            <a:off x="2840824" y="4150525"/>
            <a:ext cx="1865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ib@namigroup.in</a:t>
            </a:r>
            <a:endParaRPr/>
          </a:p>
        </p:txBody>
      </p:sp>
      <p:sp>
        <p:nvSpPr>
          <p:cNvPr id="475" name="Google Shape;475;p26"/>
          <p:cNvSpPr txBox="1"/>
          <p:nvPr/>
        </p:nvSpPr>
        <p:spPr>
          <a:xfrm>
            <a:off x="5312568" y="3906589"/>
            <a:ext cx="195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5A88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GLOBAL FOOTPRINT</a:t>
            </a:r>
            <a:endParaRPr/>
          </a:p>
        </p:txBody>
      </p:sp>
      <p:sp>
        <p:nvSpPr>
          <p:cNvPr id="476" name="Google Shape;476;p26"/>
          <p:cNvSpPr txBox="1"/>
          <p:nvPr/>
        </p:nvSpPr>
        <p:spPr>
          <a:xfrm>
            <a:off x="5312568" y="4180879"/>
            <a:ext cx="1952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India • UAE • USA • UK</a:t>
            </a:r>
            <a:endParaRPr/>
          </a:p>
        </p:txBody>
      </p:sp>
      <p:sp>
        <p:nvSpPr>
          <p:cNvPr id="477" name="Google Shape;477;p26"/>
          <p:cNvSpPr txBox="1"/>
          <p:nvPr/>
        </p:nvSpPr>
        <p:spPr>
          <a:xfrm>
            <a:off x="8036718" y="3843783"/>
            <a:ext cx="13144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5A88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CORPORATE LINE</a:t>
            </a:r>
            <a:endParaRPr/>
          </a:p>
        </p:txBody>
      </p:sp>
      <p:sp>
        <p:nvSpPr>
          <p:cNvPr id="478" name="Google Shape;478;p26"/>
          <p:cNvSpPr txBox="1"/>
          <p:nvPr/>
        </p:nvSpPr>
        <p:spPr>
          <a:xfrm>
            <a:off x="8036727" y="4118075"/>
            <a:ext cx="17001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+91-97250 53938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+971 58 57 4 3938</a:t>
            </a:r>
            <a:endParaRPr/>
          </a:p>
        </p:txBody>
      </p:sp>
      <p:sp>
        <p:nvSpPr>
          <p:cNvPr id="479" name="Google Shape;479;p26"/>
          <p:cNvSpPr txBox="1"/>
          <p:nvPr/>
        </p:nvSpPr>
        <p:spPr>
          <a:xfrm>
            <a:off x="5386387" y="1402705"/>
            <a:ext cx="14192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88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13 / CONTACT</a:t>
            </a:r>
            <a:endParaRPr/>
          </a:p>
        </p:txBody>
      </p:sp>
      <p:sp>
        <p:nvSpPr>
          <p:cNvPr id="480" name="Google Shape;480;p26"/>
          <p:cNvSpPr txBox="1"/>
          <p:nvPr/>
        </p:nvSpPr>
        <p:spPr>
          <a:xfrm>
            <a:off x="395287" y="1793230"/>
            <a:ext cx="11401425" cy="6351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PARTNER </a:t>
            </a:r>
            <a:r>
              <a:rPr b="0" i="0" lang="en-US" sz="4350" u="none" cap="none" strike="noStrike">
                <a:solidFill>
                  <a:srgbClr val="C5A880"/>
                </a:solidFill>
                <a:latin typeface="Oswald Medium"/>
                <a:ea typeface="Oswald Medium"/>
                <a:cs typeface="Oswald Medium"/>
                <a:sym typeface="Oswald Medium"/>
              </a:rPr>
              <a:t>WITH US</a:t>
            </a:r>
            <a:endParaRPr/>
          </a:p>
        </p:txBody>
      </p:sp>
      <p:sp>
        <p:nvSpPr>
          <p:cNvPr id="481" name="Google Shape;481;p26"/>
          <p:cNvSpPr txBox="1"/>
          <p:nvPr/>
        </p:nvSpPr>
        <p:spPr>
          <a:xfrm>
            <a:off x="3000375" y="2571303"/>
            <a:ext cx="6191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4F6F9"/>
                </a:solidFill>
                <a:latin typeface="Inter"/>
                <a:ea typeface="Inter"/>
                <a:cs typeface="Inter"/>
                <a:sym typeface="Inter"/>
              </a:rPr>
              <a:t>Secure structural alignment and close high-value transactions with elite global advisory and placement networks.</a:t>
            </a:r>
            <a:endParaRPr/>
          </a:p>
        </p:txBody>
      </p:sp>
      <p:sp>
        <p:nvSpPr>
          <p:cNvPr id="482" name="Google Shape;482;p26"/>
          <p:cNvSpPr txBox="1"/>
          <p:nvPr/>
        </p:nvSpPr>
        <p:spPr>
          <a:xfrm>
            <a:off x="5238750" y="5242024"/>
            <a:ext cx="17145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88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WWW.NAMIGROUP.IN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